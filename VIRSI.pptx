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AC Soft Icecream" panose="020B0604020202020204" charset="0"/>
      <p:regular r:id="rId21"/>
    </p:embeddedFont>
    <p:embeddedFont>
      <p:font typeface="DejaVu Serif Bold" panose="020B0604020202020204" charset="0"/>
      <p:regular r:id="rId22"/>
    </p:embeddedFont>
    <p:embeddedFont>
      <p:font typeface="HK Modular" panose="020B0604020202020204" charset="0"/>
      <p:regular r:id="rId23"/>
    </p:embeddedFont>
    <p:embeddedFont>
      <p:font typeface="Montserrat Bold" panose="020B0604020202020204" charset="0"/>
      <p:regular r:id="rId24"/>
    </p:embeddedFont>
    <p:embeddedFont>
      <p:font typeface="Noto Sans Bold" panose="020B0604020202020204" charset="0"/>
      <p:regular r:id="rId25"/>
    </p:embeddedFont>
    <p:embeddedFont>
      <p:font typeface="Ubuntu" panose="020B0504030602030204" pitchFamily="3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49" autoAdjust="0"/>
    <p:restoredTop sz="94622" autoAdjust="0"/>
  </p:normalViewPr>
  <p:slideViewPr>
    <p:cSldViewPr>
      <p:cViewPr>
        <p:scale>
          <a:sx n="40" d="100"/>
          <a:sy n="40" d="100"/>
        </p:scale>
        <p:origin x="838" y="-9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CCB571-667F-4ED6-BFDF-6CEF7B0AF766}" type="datetimeFigureOut">
              <a:rPr lang="en-US" smtClean="0"/>
              <a:t>9/18/2025</a:t>
            </a:fld>
            <a:endParaRPr lang="en-US"/>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l-GR"/>
              <a:t>Στυλ κειμένου υποδείγματος</a:t>
            </a:r>
          </a:p>
          <a:p>
            <a:pPr lvl="1"/>
            <a:r>
              <a:rPr lang="el-GR"/>
              <a:t>Δεύτερο επίπεδο</a:t>
            </a:r>
          </a:p>
          <a:p>
            <a:pPr lvl="2"/>
            <a:r>
              <a:rPr lang="el-GR"/>
              <a:t>Τρίτο επίπεδο</a:t>
            </a:r>
          </a:p>
          <a:p>
            <a:pPr lvl="3"/>
            <a:r>
              <a:rPr lang="el-GR"/>
              <a:t>Τέταρτο επίπεδο</a:t>
            </a:r>
          </a:p>
          <a:p>
            <a:pPr lvl="4"/>
            <a:r>
              <a:rPr lang="el-GR"/>
              <a:t>Πέμπτο επίπεδο</a:t>
            </a:r>
            <a:endParaRPr lang="en-US"/>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28C350-32BF-4B87-9294-3DE05C9DA457}" type="slidenum">
              <a:rPr lang="en-US" smtClean="0"/>
              <a:t>‹#›</a:t>
            </a:fld>
            <a:endParaRPr lang="en-US"/>
          </a:p>
        </p:txBody>
      </p:sp>
    </p:spTree>
    <p:extLst>
      <p:ext uri="{BB962C8B-B14F-4D97-AF65-F5344CB8AC3E}">
        <p14:creationId xmlns:p14="http://schemas.microsoft.com/office/powerpoint/2010/main" val="2805842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fld id="{A128C350-32BF-4B87-9294-3DE05C9DA457}" type="slidenum">
              <a:rPr lang="en-US" smtClean="0"/>
              <a:t>4</a:t>
            </a:fld>
            <a:endParaRPr lang="en-US"/>
          </a:p>
        </p:txBody>
      </p:sp>
    </p:spTree>
    <p:extLst>
      <p:ext uri="{BB962C8B-B14F-4D97-AF65-F5344CB8AC3E}">
        <p14:creationId xmlns:p14="http://schemas.microsoft.com/office/powerpoint/2010/main" val="2974958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n-US" dirty="0"/>
          </a:p>
        </p:txBody>
      </p:sp>
      <p:sp>
        <p:nvSpPr>
          <p:cNvPr id="4" name="Θέση αριθμού διαφάνειας 3"/>
          <p:cNvSpPr>
            <a:spLocks noGrp="1"/>
          </p:cNvSpPr>
          <p:nvPr>
            <p:ph type="sldNum" sz="quarter" idx="5"/>
          </p:nvPr>
        </p:nvSpPr>
        <p:spPr/>
        <p:txBody>
          <a:bodyPr/>
          <a:lstStyle/>
          <a:p>
            <a:fld id="{A128C350-32BF-4B87-9294-3DE05C9DA457}" type="slidenum">
              <a:rPr lang="en-US" smtClean="0"/>
              <a:t>17</a:t>
            </a:fld>
            <a:endParaRPr lang="en-US"/>
          </a:p>
        </p:txBody>
      </p:sp>
    </p:spTree>
    <p:extLst>
      <p:ext uri="{BB962C8B-B14F-4D97-AF65-F5344CB8AC3E}">
        <p14:creationId xmlns:p14="http://schemas.microsoft.com/office/powerpoint/2010/main" val="1096446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11.png"/><Relationship Id="rId7" Type="http://schemas.openxmlformats.org/officeDocument/2006/relationships/image" Target="../media/image6.png"/><Relationship Id="rId2" Type="http://schemas.openxmlformats.org/officeDocument/2006/relationships/image" Target="../media/image10.gif"/><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2.sv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3.png"/><Relationship Id="rId7" Type="http://schemas.openxmlformats.org/officeDocument/2006/relationships/image" Target="../media/image7.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9.sv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9.svg"/><Relationship Id="rId7" Type="http://schemas.openxmlformats.org/officeDocument/2006/relationships/image" Target="../media/image18.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7.sv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7.sv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sv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9.sv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9.sv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hyperlink" Target="https://github.com/GeorgePeg/VIRSI" TargetMode="External"/><Relationship Id="rId5" Type="http://schemas.openxmlformats.org/officeDocument/2006/relationships/image" Target="../media/image9.sv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8" Type="http://schemas.openxmlformats.org/officeDocument/2006/relationships/hyperlink" Target="https://electronoobs.com/eng_arduino_tut165.php" TargetMode="External"/><Relationship Id="rId13" Type="http://schemas.openxmlformats.org/officeDocument/2006/relationships/hyperlink" Target="https://docs.espressif.com/projects/esp-idf/en/latest/esp32c3/api-reference/network/esp_now.html" TargetMode="External"/><Relationship Id="rId18" Type="http://schemas.openxmlformats.org/officeDocument/2006/relationships/hyperlink" Target="https://docs.espressif.com/projects/esp-idf/en/latest/esp32/api-reference/peripherals/i2s.html" TargetMode="External"/><Relationship Id="rId3" Type="http://schemas.openxmlformats.org/officeDocument/2006/relationships/image" Target="../media/image6.png"/><Relationship Id="rId7" Type="http://schemas.openxmlformats.org/officeDocument/2006/relationships/hyperlink" Target="https://github.com/Muehli-Industries/ElechouseVR3_ESP32/tree/main" TargetMode="External"/><Relationship Id="rId12" Type="http://schemas.openxmlformats.org/officeDocument/2006/relationships/hyperlink" Target="https://www.cloudflare.com/learning/ddos/glossary/open-systems-interconnection-model-osi/" TargetMode="External"/><Relationship Id="rId17" Type="http://schemas.openxmlformats.org/officeDocument/2006/relationships/hyperlink" Target="https://hackaday.io/project/162059-street-sense/log/160705-new-i2s-microphone" TargetMode="External"/><Relationship Id="rId2" Type="http://schemas.openxmlformats.org/officeDocument/2006/relationships/notesSlide" Target="../notesSlides/notesSlide2.xml"/><Relationship Id="rId16" Type="http://schemas.openxmlformats.org/officeDocument/2006/relationships/hyperlink" Target="https://en.wikipedia.org/wiki/I%C2%B2S" TargetMode="External"/><Relationship Id="rId20" Type="http://schemas.openxmlformats.org/officeDocument/2006/relationships/hyperlink" Target="https://invensense.tdk.com/wp-content/uploads/2015/02/INMP441.pdf" TargetMode="External"/><Relationship Id="rId1" Type="http://schemas.openxmlformats.org/officeDocument/2006/relationships/slideLayout" Target="../slideLayouts/slideLayout7.xml"/><Relationship Id="rId6" Type="http://schemas.openxmlformats.org/officeDocument/2006/relationships/image" Target="../media/image9.svg"/><Relationship Id="rId11" Type="http://schemas.openxmlformats.org/officeDocument/2006/relationships/hyperlink" Target="https://www.espressif.com/en/solutions/low-power-solutions/esp-now" TargetMode="External"/><Relationship Id="rId5" Type="http://schemas.openxmlformats.org/officeDocument/2006/relationships/image" Target="../media/image8.png"/><Relationship Id="rId15" Type="http://schemas.openxmlformats.org/officeDocument/2006/relationships/hyperlink" Target="https://www.elechouse.com/elechouse/images/product/VR3/VR3_manual.pdf" TargetMode="External"/><Relationship Id="rId10" Type="http://schemas.openxmlformats.org/officeDocument/2006/relationships/hyperlink" Target="https://blog.frankvh.com/2022/02/21/esp32-support-for-elechouse-voice-recognition-module-v3/" TargetMode="External"/><Relationship Id="rId19" Type="http://schemas.openxmlformats.org/officeDocument/2006/relationships/hyperlink" Target="https://github.com/ikostoski/esp32-i2s-slm" TargetMode="External"/><Relationship Id="rId4" Type="http://schemas.openxmlformats.org/officeDocument/2006/relationships/image" Target="../media/image7.svg"/><Relationship Id="rId9" Type="http://schemas.openxmlformats.org/officeDocument/2006/relationships/hyperlink" Target="https://github.com/elechouse/VoiceRecognitionV3" TargetMode="External"/><Relationship Id="rId14" Type="http://schemas.openxmlformats.org/officeDocument/2006/relationships/hyperlink" Target="https://www.youtube.com/watch?si=fhnLfbmc_sz48225&amp;v=HpChhPt1CCQ&amp;feature=youtu.be"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15154235" y="-723790"/>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542048" y="3273489"/>
            <a:ext cx="12612187" cy="1458542"/>
          </a:xfrm>
          <a:prstGeom prst="rect">
            <a:avLst/>
          </a:prstGeom>
        </p:spPr>
        <p:txBody>
          <a:bodyPr lIns="0" tIns="0" rIns="0" bIns="0" rtlCol="0" anchor="t">
            <a:spAutoFit/>
          </a:bodyPr>
          <a:lstStyle/>
          <a:p>
            <a:pPr algn="ctr">
              <a:lnSpc>
                <a:spcPts val="11242"/>
              </a:lnSpc>
            </a:pPr>
            <a:r>
              <a:rPr lang="en-US" sz="10314">
                <a:solidFill>
                  <a:srgbClr val="FFFFFF"/>
                </a:solidFill>
                <a:latin typeface="HK Modular"/>
                <a:ea typeface="HK Modular"/>
                <a:cs typeface="HK Modular"/>
                <a:sym typeface="HK Modular"/>
              </a:rPr>
              <a:t>VIRSI</a:t>
            </a:r>
          </a:p>
        </p:txBody>
      </p:sp>
      <p:sp>
        <p:nvSpPr>
          <p:cNvPr id="6" name="TextBox 6"/>
          <p:cNvSpPr txBox="1"/>
          <p:nvPr/>
        </p:nvSpPr>
        <p:spPr>
          <a:xfrm>
            <a:off x="5093627" y="5555615"/>
            <a:ext cx="8100746" cy="360050"/>
          </a:xfrm>
          <a:prstGeom prst="rect">
            <a:avLst/>
          </a:prstGeom>
        </p:spPr>
        <p:txBody>
          <a:bodyPr lIns="0" tIns="0" rIns="0" bIns="0" rtlCol="0" anchor="t">
            <a:spAutoFit/>
          </a:bodyPr>
          <a:lstStyle/>
          <a:p>
            <a:pPr algn="ctr">
              <a:lnSpc>
                <a:spcPts val="2565"/>
              </a:lnSpc>
              <a:spcBef>
                <a:spcPct val="0"/>
              </a:spcBef>
            </a:pPr>
            <a:r>
              <a:rPr lang="en-US" sz="2375">
                <a:solidFill>
                  <a:srgbClr val="FFFFFF"/>
                </a:solidFill>
                <a:latin typeface="AC Soft Icecream"/>
                <a:ea typeface="AC Soft Icecream"/>
                <a:cs typeface="AC Soft Icecream"/>
                <a:sym typeface="AC Soft Icecream"/>
              </a:rPr>
              <a:t>Command with your voice. Work smarter</a:t>
            </a:r>
          </a:p>
        </p:txBody>
      </p:sp>
      <p:sp>
        <p:nvSpPr>
          <p:cNvPr id="7" name="TextBox 7"/>
          <p:cNvSpPr txBox="1"/>
          <p:nvPr/>
        </p:nvSpPr>
        <p:spPr>
          <a:xfrm>
            <a:off x="789999" y="4721860"/>
            <a:ext cx="18192694" cy="748029"/>
          </a:xfrm>
          <a:prstGeom prst="rect">
            <a:avLst/>
          </a:prstGeom>
        </p:spPr>
        <p:txBody>
          <a:bodyPr lIns="0" tIns="0" rIns="0" bIns="0" rtlCol="0" anchor="t">
            <a:spAutoFit/>
          </a:bodyPr>
          <a:lstStyle/>
          <a:p>
            <a:pPr algn="ctr">
              <a:lnSpc>
                <a:spcPts val="6020"/>
              </a:lnSpc>
            </a:pPr>
            <a:r>
              <a:rPr lang="en-US" sz="4300">
                <a:solidFill>
                  <a:srgbClr val="FFFFFF"/>
                </a:solidFill>
                <a:latin typeface="Ubuntu"/>
                <a:ea typeface="Ubuntu"/>
                <a:cs typeface="Ubuntu"/>
                <a:sym typeface="Ubuntu"/>
              </a:rPr>
              <a:t>VOICE INTERFACE for ROBOTIC SYSTEMS INTERACTION</a:t>
            </a:r>
          </a:p>
        </p:txBody>
      </p:sp>
      <p:sp>
        <p:nvSpPr>
          <p:cNvPr id="8" name="TextBox 8"/>
          <p:cNvSpPr txBox="1"/>
          <p:nvPr/>
        </p:nvSpPr>
        <p:spPr>
          <a:xfrm>
            <a:off x="7113426" y="7606519"/>
            <a:ext cx="3469432" cy="1327148"/>
          </a:xfrm>
          <a:prstGeom prst="rect">
            <a:avLst/>
          </a:prstGeom>
        </p:spPr>
        <p:txBody>
          <a:bodyPr lIns="0" tIns="0" rIns="0" bIns="0" rtlCol="0" anchor="t">
            <a:spAutoFit/>
          </a:bodyPr>
          <a:lstStyle/>
          <a:p>
            <a:pPr algn="ctr">
              <a:lnSpc>
                <a:spcPts val="3500"/>
              </a:lnSpc>
            </a:pPr>
            <a:r>
              <a:rPr lang="en-US" sz="2500" b="1">
                <a:solidFill>
                  <a:srgbClr val="FFFFFF"/>
                </a:solidFill>
                <a:latin typeface="DejaVu Serif Bold"/>
                <a:ea typeface="DejaVu Serif Bold"/>
                <a:cs typeface="DejaVu Serif Bold"/>
                <a:sym typeface="DejaVu Serif Bold"/>
              </a:rPr>
              <a:t>Authors: </a:t>
            </a:r>
          </a:p>
          <a:p>
            <a:pPr algn="ctr">
              <a:lnSpc>
                <a:spcPts val="3500"/>
              </a:lnSpc>
            </a:pPr>
            <a:r>
              <a:rPr lang="en-US" sz="2500" b="1">
                <a:solidFill>
                  <a:srgbClr val="FFFFFF"/>
                </a:solidFill>
                <a:latin typeface="DejaVu Serif Bold"/>
                <a:ea typeface="DejaVu Serif Bold"/>
                <a:cs typeface="DejaVu Serif Bold"/>
                <a:sym typeface="DejaVu Serif Bold"/>
              </a:rPr>
              <a:t>Γ.ΠΕΓΙΑΖΗΣ 21081</a:t>
            </a:r>
          </a:p>
          <a:p>
            <a:pPr algn="ctr">
              <a:lnSpc>
                <a:spcPts val="3500"/>
              </a:lnSpc>
            </a:pPr>
            <a:r>
              <a:rPr lang="en-US" sz="2500" b="1">
                <a:solidFill>
                  <a:srgbClr val="FFFFFF"/>
                </a:solidFill>
                <a:latin typeface="DejaVu Serif Bold"/>
                <a:ea typeface="DejaVu Serif Bold"/>
                <a:cs typeface="DejaVu Serif Bold"/>
                <a:sym typeface="DejaVu Serif Bold"/>
              </a:rPr>
              <a:t>Β.ΤΟΥΜΠΑΣ 21105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5867658" y="6545026"/>
            <a:ext cx="7315200" cy="2713274"/>
          </a:xfrm>
          <a:custGeom>
            <a:avLst/>
            <a:gdLst/>
            <a:ahLst/>
            <a:cxnLst/>
            <a:rect l="l" t="t" r="r" b="b"/>
            <a:pathLst>
              <a:path w="7315200" h="2713274">
                <a:moveTo>
                  <a:pt x="0" y="0"/>
                </a:moveTo>
                <a:lnTo>
                  <a:pt x="7315200" y="0"/>
                </a:lnTo>
                <a:lnTo>
                  <a:pt x="7315200" y="2713274"/>
                </a:lnTo>
                <a:lnTo>
                  <a:pt x="0" y="27132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5524500" y="506219"/>
            <a:ext cx="7239000" cy="728726"/>
          </a:xfrm>
          <a:prstGeom prst="rect">
            <a:avLst/>
          </a:prstGeom>
        </p:spPr>
        <p:txBody>
          <a:bodyPr wrap="square" lIns="0" tIns="0" rIns="0" bIns="0" rtlCol="0" anchor="t">
            <a:spAutoFit/>
          </a:bodyPr>
          <a:lstStyle/>
          <a:p>
            <a:pPr algn="ctr">
              <a:lnSpc>
                <a:spcPts val="5625"/>
              </a:lnSpc>
            </a:pPr>
            <a:r>
              <a:rPr lang="en-US" sz="6000" b="1" dirty="0">
                <a:solidFill>
                  <a:srgbClr val="010A50"/>
                </a:solidFill>
                <a:latin typeface="Montserrat Bold"/>
                <a:ea typeface="Montserrat Bold"/>
                <a:cs typeface="Montserrat Bold"/>
                <a:sym typeface="Montserrat Bold"/>
              </a:rPr>
              <a:t>WHAT IS VIRSI?</a:t>
            </a:r>
          </a:p>
        </p:txBody>
      </p:sp>
      <p:sp>
        <p:nvSpPr>
          <p:cNvPr id="4" name="TextBox 4"/>
          <p:cNvSpPr txBox="1"/>
          <p:nvPr/>
        </p:nvSpPr>
        <p:spPr>
          <a:xfrm>
            <a:off x="1028700" y="2063139"/>
            <a:ext cx="15836059" cy="2166443"/>
          </a:xfrm>
          <a:prstGeom prst="rect">
            <a:avLst/>
          </a:prstGeom>
        </p:spPr>
        <p:txBody>
          <a:bodyPr lIns="0" tIns="0" rIns="0" bIns="0" rtlCol="0" anchor="t">
            <a:spAutoFit/>
          </a:bodyPr>
          <a:lstStyle/>
          <a:p>
            <a:pPr algn="just">
              <a:lnSpc>
                <a:spcPts val="3439"/>
              </a:lnSpc>
            </a:pPr>
            <a:r>
              <a:rPr lang="en-US" sz="2456">
                <a:solidFill>
                  <a:srgbClr val="010A50"/>
                </a:solidFill>
                <a:latin typeface="AC Soft Icecream"/>
                <a:ea typeface="AC Soft Icecream"/>
                <a:cs typeface="AC Soft Icecream"/>
                <a:sym typeface="AC Soft Icecream"/>
              </a:rPr>
              <a:t>Η ανάπτυξη συστημάτων διεπαφής ανθρώπου-μηχανής (HMI) αποτελεί έναν ραγδαία αναπτυσσόμενο διεπιστημονικό τομέα. Στη ρομποτική, ο φωνητικός έλεγχος αποκτά αυξανόμενη σημασία, διευκολύνοντας την αλληλεπίδραση και ενισχύοντας τη λειτουργικότητα. Η τεχνολογία φωνητικής αναγνώρισης επιτρέπει τη δημιουργία ευφυών συστημάτων που ανταποκρίνονται σε λεκτικές εντολές, με εφαρμογές στη βιομηχανία, την οικιακή ρομποτική και τις βοηθητικές τεχνολογίες.</a:t>
            </a:r>
          </a:p>
        </p:txBody>
      </p:sp>
      <p:sp>
        <p:nvSpPr>
          <p:cNvPr id="5" name="TextBox 5"/>
          <p:cNvSpPr txBox="1"/>
          <p:nvPr/>
        </p:nvSpPr>
        <p:spPr>
          <a:xfrm>
            <a:off x="1028700" y="5057775"/>
            <a:ext cx="15836059" cy="1309193"/>
          </a:xfrm>
          <a:prstGeom prst="rect">
            <a:avLst/>
          </a:prstGeom>
        </p:spPr>
        <p:txBody>
          <a:bodyPr lIns="0" tIns="0" rIns="0" bIns="0" rtlCol="0" anchor="t">
            <a:spAutoFit/>
          </a:bodyPr>
          <a:lstStyle/>
          <a:p>
            <a:pPr algn="just">
              <a:lnSpc>
                <a:spcPts val="3439"/>
              </a:lnSpc>
            </a:pPr>
            <a:r>
              <a:rPr lang="en-US" sz="2456">
                <a:solidFill>
                  <a:srgbClr val="010A50"/>
                </a:solidFill>
                <a:latin typeface="AC Soft Icecream"/>
                <a:ea typeface="AC Soft Icecream"/>
                <a:cs typeface="AC Soft Icecream"/>
                <a:sym typeface="AC Soft Icecream"/>
              </a:rPr>
              <a:t>Για τον λόγο αυτό, δημιουργήσαμε μια απλή αλλά και αξιόπιστη φωνητική διεπαφή, την VIRSI, που ως σκοπό έχει να μετουσιώνει ένα σήμα φωνής (μία φωνητική εντολή) σε ένα σήμα ελέγχου για οποιαδήποτε ενέργεια για οποιοδήποτε ρομποτικό σύστημα επιθυμούμε.</a:t>
            </a:r>
          </a:p>
        </p:txBody>
      </p:sp>
      <p:sp>
        <p:nvSpPr>
          <p:cNvPr id="6" name="Freeform 6"/>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rcRect/>
          <a:stretch>
            <a:fillRect/>
          </a:stretch>
        </p:blipFill>
        <p:spPr>
          <a:xfrm>
            <a:off x="11147440" y="6622930"/>
            <a:ext cx="2635370" cy="2635370"/>
          </a:xfrm>
          <a:prstGeom prst="rect">
            <a:avLst/>
          </a:prstGeom>
        </p:spPr>
      </p:pic>
      <p:sp>
        <p:nvSpPr>
          <p:cNvPr id="3" name="Freeform 3"/>
          <p:cNvSpPr/>
          <p:nvPr/>
        </p:nvSpPr>
        <p:spPr>
          <a:xfrm>
            <a:off x="6359947" y="6935262"/>
            <a:ext cx="2357326" cy="2323038"/>
          </a:xfrm>
          <a:custGeom>
            <a:avLst/>
            <a:gdLst/>
            <a:ahLst/>
            <a:cxnLst/>
            <a:rect l="l" t="t" r="r" b="b"/>
            <a:pathLst>
              <a:path w="2357326" h="2323038">
                <a:moveTo>
                  <a:pt x="0" y="0"/>
                </a:moveTo>
                <a:lnTo>
                  <a:pt x="2357326" y="0"/>
                </a:lnTo>
                <a:lnTo>
                  <a:pt x="2357326" y="2323038"/>
                </a:lnTo>
                <a:lnTo>
                  <a:pt x="0" y="232303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5440673" y="369001"/>
            <a:ext cx="6553200" cy="688522"/>
          </a:xfrm>
          <a:prstGeom prst="rect">
            <a:avLst/>
          </a:prstGeom>
        </p:spPr>
        <p:txBody>
          <a:bodyPr wrap="square" lIns="0" tIns="0" rIns="0" bIns="0" rtlCol="0" anchor="t">
            <a:spAutoFit/>
          </a:bodyPr>
          <a:lstStyle/>
          <a:p>
            <a:pPr algn="ctr">
              <a:lnSpc>
                <a:spcPts val="5348"/>
              </a:lnSpc>
            </a:pPr>
            <a:r>
              <a:rPr lang="en-US" sz="5400" b="1" dirty="0">
                <a:solidFill>
                  <a:srgbClr val="010A50"/>
                </a:solidFill>
                <a:latin typeface="Noto Sans Bold"/>
                <a:ea typeface="Noto Sans Bold"/>
                <a:cs typeface="Noto Sans Bold"/>
                <a:sym typeface="Noto Sans Bold"/>
              </a:rPr>
              <a:t>HOW IT WORKS?</a:t>
            </a:r>
          </a:p>
        </p:txBody>
      </p:sp>
      <p:sp>
        <p:nvSpPr>
          <p:cNvPr id="5" name="TextBox 5"/>
          <p:cNvSpPr txBox="1"/>
          <p:nvPr/>
        </p:nvSpPr>
        <p:spPr>
          <a:xfrm>
            <a:off x="1225970" y="2159916"/>
            <a:ext cx="15836059" cy="3452318"/>
          </a:xfrm>
          <a:prstGeom prst="rect">
            <a:avLst/>
          </a:prstGeom>
        </p:spPr>
        <p:txBody>
          <a:bodyPr lIns="0" tIns="0" rIns="0" bIns="0" rtlCol="0" anchor="t">
            <a:spAutoFit/>
          </a:bodyPr>
          <a:lstStyle/>
          <a:p>
            <a:pPr algn="just">
              <a:lnSpc>
                <a:spcPts val="3439"/>
              </a:lnSpc>
            </a:pPr>
            <a:r>
              <a:rPr lang="en-US" sz="2456">
                <a:solidFill>
                  <a:srgbClr val="010A50"/>
                </a:solidFill>
                <a:latin typeface="AC Soft Icecream"/>
                <a:ea typeface="AC Soft Icecream"/>
                <a:cs typeface="AC Soft Icecream"/>
                <a:sym typeface="AC Soft Icecream"/>
              </a:rPr>
              <a:t>Η VIRSI αποτελείται από δύο μέρη. Τον </a:t>
            </a:r>
            <a:r>
              <a:rPr lang="en-US" sz="2456">
                <a:solidFill>
                  <a:srgbClr val="D14725"/>
                </a:solidFill>
                <a:latin typeface="AC Soft Icecream"/>
                <a:ea typeface="AC Soft Icecream"/>
                <a:cs typeface="AC Soft Icecream"/>
                <a:sym typeface="AC Soft Icecream"/>
              </a:rPr>
              <a:t>αποστολέα (πομπό)</a:t>
            </a:r>
            <a:r>
              <a:rPr lang="en-US" sz="2456">
                <a:solidFill>
                  <a:srgbClr val="010A50"/>
                </a:solidFill>
                <a:latin typeface="AC Soft Icecream"/>
                <a:ea typeface="AC Soft Icecream"/>
                <a:cs typeface="AC Soft Icecream"/>
                <a:sym typeface="AC Soft Icecream"/>
              </a:rPr>
              <a:t> και τον </a:t>
            </a:r>
            <a:r>
              <a:rPr lang="en-US" sz="2456">
                <a:solidFill>
                  <a:srgbClr val="D14725"/>
                </a:solidFill>
                <a:latin typeface="AC Soft Icecream"/>
                <a:ea typeface="AC Soft Icecream"/>
                <a:cs typeface="AC Soft Icecream"/>
                <a:sym typeface="AC Soft Icecream"/>
              </a:rPr>
              <a:t>παραλλήπτη (δέκτη)</a:t>
            </a:r>
            <a:r>
              <a:rPr lang="en-US" sz="2456">
                <a:solidFill>
                  <a:srgbClr val="010A50"/>
                </a:solidFill>
                <a:latin typeface="AC Soft Icecream"/>
                <a:ea typeface="AC Soft Icecream"/>
                <a:cs typeface="AC Soft Icecream"/>
                <a:sym typeface="AC Soft Icecream"/>
              </a:rPr>
              <a:t>. Ο αποστολέας αποτελείται στην ουσία από ένα ζευγάρι ακουστικά στα οποία έχουμε ενσωματώσει έναν </a:t>
            </a:r>
            <a:r>
              <a:rPr lang="en-US" sz="2456">
                <a:solidFill>
                  <a:srgbClr val="2A5D5E"/>
                </a:solidFill>
                <a:latin typeface="AC Soft Icecream"/>
                <a:ea typeface="AC Soft Icecream"/>
                <a:cs typeface="AC Soft Icecream"/>
                <a:sym typeface="AC Soft Icecream"/>
              </a:rPr>
              <a:t>μικροελεγκτή ESP32-S3</a:t>
            </a:r>
            <a:r>
              <a:rPr lang="en-US" sz="2456">
                <a:solidFill>
                  <a:srgbClr val="010A50"/>
                </a:solidFill>
                <a:latin typeface="AC Soft Icecream"/>
                <a:ea typeface="AC Soft Icecream"/>
                <a:cs typeface="AC Soft Icecream"/>
                <a:sym typeface="AC Soft Icecream"/>
              </a:rPr>
              <a:t> και μια </a:t>
            </a:r>
            <a:r>
              <a:rPr lang="en-US" sz="2456">
                <a:solidFill>
                  <a:srgbClr val="2A5D5E"/>
                </a:solidFill>
                <a:latin typeface="AC Soft Icecream"/>
                <a:ea typeface="AC Soft Icecream"/>
                <a:cs typeface="AC Soft Icecream"/>
                <a:sym typeface="AC Soft Icecream"/>
              </a:rPr>
              <a:t>πλακέτα αναγνώρισης φωνητικών εντολών</a:t>
            </a:r>
            <a:r>
              <a:rPr lang="en-US" sz="2456">
                <a:solidFill>
                  <a:srgbClr val="010A50"/>
                </a:solidFill>
                <a:latin typeface="AC Soft Icecream"/>
                <a:ea typeface="AC Soft Icecream"/>
                <a:cs typeface="AC Soft Icecream"/>
                <a:sym typeface="AC Soft Icecream"/>
              </a:rPr>
              <a:t>, την VRM V3, και από ένα </a:t>
            </a:r>
            <a:r>
              <a:rPr lang="en-US" sz="2456">
                <a:solidFill>
                  <a:srgbClr val="2A5D5E"/>
                </a:solidFill>
                <a:latin typeface="AC Soft Icecream"/>
                <a:ea typeface="AC Soft Icecream"/>
                <a:cs typeface="AC Soft Icecream"/>
                <a:sym typeface="AC Soft Icecream"/>
              </a:rPr>
              <a:t>gooseneck μικρόφωνο</a:t>
            </a:r>
            <a:r>
              <a:rPr lang="en-US" sz="2456">
                <a:solidFill>
                  <a:srgbClr val="010A50"/>
                </a:solidFill>
                <a:latin typeface="AC Soft Icecream"/>
                <a:ea typeface="AC Soft Icecream"/>
                <a:cs typeface="AC Soft Icecream"/>
                <a:sym typeface="AC Soft Icecream"/>
              </a:rPr>
              <a:t>. Ο ελεγκτής του ρομπότ φοράει τα ακουστικά, λέει την εντολή που θέλει έτσι ώστε το ρομπότ να πράξει και την αντίστοιχη ενέργεια, η VRM V3 αναγνωρίζει αυτή την εντολή και μέσω ασύρματης επικοινωνίας με το ρομπότ, ο αποστολέας στέλνει την αντίστοιχη πληροφορία στον παραλλήπτη. Για να είναι σίγουρος ο χειριστής ότι η εντολή στάλθηκε με επιτυχία και αναγνωρίστηκε με επιτυχία στο ρομπότ, ακούγεται ένας απλός διπλός ήχος από τα ηχεία των ακουστικών σαν acknowledgment. </a:t>
            </a:r>
          </a:p>
        </p:txBody>
      </p:sp>
      <p:sp>
        <p:nvSpPr>
          <p:cNvPr id="6" name="Freeform 6"/>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7" name="Freeform 7"/>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04348" y="2513717"/>
            <a:ext cx="17279305" cy="3469395"/>
          </a:xfrm>
          <a:prstGeom prst="rect">
            <a:avLst/>
          </a:prstGeom>
        </p:spPr>
        <p:txBody>
          <a:bodyPr lIns="0" tIns="0" rIns="0" bIns="0" rtlCol="0" anchor="t">
            <a:spAutoFit/>
          </a:bodyPr>
          <a:lstStyle/>
          <a:p>
            <a:pPr algn="just">
              <a:lnSpc>
                <a:spcPts val="2498"/>
              </a:lnSpc>
            </a:pPr>
            <a:r>
              <a:rPr lang="en-US" sz="1784">
                <a:solidFill>
                  <a:srgbClr val="010A50"/>
                </a:solidFill>
                <a:latin typeface="AC Soft Icecream"/>
                <a:ea typeface="AC Soft Icecream"/>
                <a:cs typeface="AC Soft Icecream"/>
                <a:sym typeface="AC Soft Icecream"/>
              </a:rPr>
              <a:t>Η ασύρματη επικοινωνία μεταξύ του αποστολέα και του παραλλήπτη γίνεται μέσω του </a:t>
            </a:r>
            <a:r>
              <a:rPr lang="en-US" sz="1784">
                <a:solidFill>
                  <a:srgbClr val="D14725"/>
                </a:solidFill>
                <a:latin typeface="AC Soft Icecream"/>
                <a:ea typeface="AC Soft Icecream"/>
                <a:cs typeface="AC Soft Icecream"/>
                <a:sym typeface="AC Soft Icecream"/>
              </a:rPr>
              <a:t>πρωτοκόλλου ασύρματης επικοινωνίας ESP-NOW</a:t>
            </a:r>
            <a:r>
              <a:rPr lang="en-US" sz="1784">
                <a:solidFill>
                  <a:srgbClr val="010A50"/>
                </a:solidFill>
                <a:latin typeface="AC Soft Icecream"/>
                <a:ea typeface="AC Soft Icecream"/>
                <a:cs typeface="AC Soft Icecream"/>
                <a:sym typeface="AC Soft Icecream"/>
              </a:rPr>
              <a:t> το οποίο στην ουσία πρόκειται για ένα ασύρματο δίκτυο τύπου </a:t>
            </a:r>
            <a:r>
              <a:rPr lang="en-US" sz="1784">
                <a:solidFill>
                  <a:srgbClr val="D14725"/>
                </a:solidFill>
                <a:latin typeface="AC Soft Icecream"/>
                <a:ea typeface="AC Soft Icecream"/>
                <a:cs typeface="AC Soft Icecream"/>
                <a:sym typeface="AC Soft Icecream"/>
              </a:rPr>
              <a:t>Wi-Fi (IEEE 802.11 b/g/n)</a:t>
            </a:r>
            <a:r>
              <a:rPr lang="en-US" sz="1784">
                <a:solidFill>
                  <a:srgbClr val="010A50"/>
                </a:solidFill>
                <a:latin typeface="AC Soft Icecream"/>
                <a:ea typeface="AC Soft Icecream"/>
                <a:cs typeface="AC Soft Icecream"/>
                <a:sym typeface="AC Soft Icecream"/>
              </a:rPr>
              <a:t>. Ο προεπιλεγμένος </a:t>
            </a:r>
            <a:r>
              <a:rPr lang="en-US" sz="1784">
                <a:solidFill>
                  <a:srgbClr val="2A5D5E"/>
                </a:solidFill>
                <a:latin typeface="AC Soft Icecream"/>
                <a:ea typeface="AC Soft Icecream"/>
                <a:cs typeface="AC Soft Icecream"/>
                <a:sym typeface="AC Soft Icecream"/>
              </a:rPr>
              <a:t>ρυθμός μετάδοσης (bit rate)</a:t>
            </a:r>
            <a:r>
              <a:rPr lang="en-US" sz="1784">
                <a:solidFill>
                  <a:srgbClr val="010A50"/>
                </a:solidFill>
                <a:latin typeface="AC Soft Icecream"/>
                <a:ea typeface="AC Soft Icecream"/>
                <a:cs typeface="AC Soft Icecream"/>
                <a:sym typeface="AC Soft Icecream"/>
              </a:rPr>
              <a:t> είναι </a:t>
            </a:r>
            <a:r>
              <a:rPr lang="en-US" sz="1784">
                <a:solidFill>
                  <a:srgbClr val="2A5D5E"/>
                </a:solidFill>
                <a:latin typeface="AC Soft Icecream"/>
                <a:ea typeface="AC Soft Icecream"/>
                <a:cs typeface="AC Soft Icecream"/>
                <a:sym typeface="AC Soft Icecream"/>
              </a:rPr>
              <a:t>1Mbps</a:t>
            </a:r>
            <a:r>
              <a:rPr lang="en-US" sz="1784">
                <a:solidFill>
                  <a:srgbClr val="010A50"/>
                </a:solidFill>
                <a:latin typeface="AC Soft Icecream"/>
                <a:ea typeface="AC Soft Icecream"/>
                <a:cs typeface="AC Soft Icecream"/>
                <a:sym typeface="AC Soft Icecream"/>
              </a:rPr>
              <a:t>. Μπορεί και συνυπάρχει με ­Wi-Fi και Bluetooth LE (Low Energy) και υποστηρίζει διάφορες σειρές Espressif SoCs με συνδεσιμότητα Wi-Fi. Διαθέτει γρήγορη και φιλική προς τον χρήστη μέθοδο σύζευξης που είναι κατάλληλη για σύνδεση συσκευών </a:t>
            </a:r>
            <a:r>
              <a:rPr lang="en-US" sz="1784">
                <a:solidFill>
                  <a:srgbClr val="2A5D5E"/>
                </a:solidFill>
                <a:latin typeface="AC Soft Icecream"/>
                <a:ea typeface="AC Soft Icecream"/>
                <a:cs typeface="AC Soft Icecream"/>
                <a:sym typeface="AC Soft Icecream"/>
              </a:rPr>
              <a:t>«one-to-many»</a:t>
            </a:r>
            <a:r>
              <a:rPr lang="en-US" sz="1784">
                <a:solidFill>
                  <a:srgbClr val="010A50"/>
                </a:solidFill>
                <a:latin typeface="AC Soft Icecream"/>
                <a:ea typeface="AC Soft Icecream"/>
                <a:cs typeface="AC Soft Icecream"/>
                <a:sym typeface="AC Soft Icecream"/>
              </a:rPr>
              <a:t> και </a:t>
            </a:r>
            <a:r>
              <a:rPr lang="en-US" sz="1784">
                <a:solidFill>
                  <a:srgbClr val="2A5D5E"/>
                </a:solidFill>
                <a:latin typeface="AC Soft Icecream"/>
                <a:ea typeface="AC Soft Icecream"/>
                <a:cs typeface="AC Soft Icecream"/>
                <a:sym typeface="AC Soft Icecream"/>
              </a:rPr>
              <a:t>«many-to-many»</a:t>
            </a:r>
            <a:r>
              <a:rPr lang="en-US" sz="1784">
                <a:solidFill>
                  <a:srgbClr val="010A50"/>
                </a:solidFill>
                <a:latin typeface="AC Soft Icecream"/>
                <a:ea typeface="AC Soft Icecream"/>
                <a:cs typeface="AC Soft Icecream"/>
                <a:sym typeface="AC Soft Icecream"/>
              </a:rPr>
              <a:t>, ενώ παράλληλα τις ελέγχει. Στην κανονική του λειτουργία, έχει </a:t>
            </a:r>
            <a:r>
              <a:rPr lang="en-US" sz="1784">
                <a:solidFill>
                  <a:srgbClr val="2A5D5E"/>
                </a:solidFill>
                <a:latin typeface="AC Soft Icecream"/>
                <a:ea typeface="AC Soft Icecream"/>
                <a:cs typeface="AC Soft Icecream"/>
                <a:sym typeface="AC Soft Icecream"/>
              </a:rPr>
              <a:t>εμβέλεια περίπου 220-250 μέτρων</a:t>
            </a:r>
            <a:r>
              <a:rPr lang="en-US" sz="1784">
                <a:solidFill>
                  <a:srgbClr val="010A50"/>
                </a:solidFill>
                <a:latin typeface="AC Soft Icecream"/>
                <a:ea typeface="AC Soft Icecream"/>
                <a:cs typeface="AC Soft Icecream"/>
                <a:sym typeface="AC Soft Icecream"/>
              </a:rPr>
              <a:t> </a:t>
            </a:r>
            <a:r>
              <a:rPr lang="en-US" sz="1784">
                <a:solidFill>
                  <a:srgbClr val="2A5D5E"/>
                </a:solidFill>
                <a:latin typeface="AC Soft Icecream"/>
                <a:ea typeface="AC Soft Icecream"/>
                <a:cs typeface="AC Soft Icecream"/>
                <a:sym typeface="AC Soft Icecream"/>
              </a:rPr>
              <a:t>σε ανοιχτό χώρο</a:t>
            </a:r>
            <a:r>
              <a:rPr lang="en-US" sz="1784">
                <a:solidFill>
                  <a:srgbClr val="010A50"/>
                </a:solidFill>
                <a:latin typeface="AC Soft Icecream"/>
                <a:ea typeface="AC Soft Icecream"/>
                <a:cs typeface="AC Soft Icecream"/>
                <a:sym typeface="AC Soft Icecream"/>
              </a:rPr>
              <a:t>, ενώ στην λειτουργία μακριάς εμβέλειας (long range mode) μπορεί να φτάσει </a:t>
            </a:r>
            <a:r>
              <a:rPr lang="en-US" sz="1784">
                <a:solidFill>
                  <a:srgbClr val="2A5D5E"/>
                </a:solidFill>
                <a:latin typeface="AC Soft Icecream"/>
                <a:ea typeface="AC Soft Icecream"/>
                <a:cs typeface="AC Soft Icecream"/>
                <a:sym typeface="AC Soft Icecream"/>
              </a:rPr>
              <a:t>έως και τα 480 μέτρα</a:t>
            </a:r>
            <a:r>
              <a:rPr lang="en-US" sz="1784">
                <a:solidFill>
                  <a:srgbClr val="010A50"/>
                </a:solidFill>
                <a:latin typeface="AC Soft Icecream"/>
                <a:ea typeface="AC Soft Icecream"/>
                <a:cs typeface="AC Soft Icecream"/>
                <a:sym typeface="AC Soft Icecream"/>
              </a:rPr>
              <a:t>.</a:t>
            </a:r>
          </a:p>
          <a:p>
            <a:pPr algn="just">
              <a:lnSpc>
                <a:spcPts val="2498"/>
              </a:lnSpc>
            </a:pPr>
            <a:endParaRPr lang="en-US" sz="1784">
              <a:solidFill>
                <a:srgbClr val="010A50"/>
              </a:solidFill>
              <a:latin typeface="AC Soft Icecream"/>
              <a:ea typeface="AC Soft Icecream"/>
              <a:cs typeface="AC Soft Icecream"/>
              <a:sym typeface="AC Soft Icecream"/>
            </a:endParaRPr>
          </a:p>
          <a:p>
            <a:pPr algn="just">
              <a:lnSpc>
                <a:spcPts val="2498"/>
              </a:lnSpc>
            </a:pPr>
            <a:endParaRPr lang="en-US" sz="1784">
              <a:solidFill>
                <a:srgbClr val="010A50"/>
              </a:solidFill>
              <a:latin typeface="AC Soft Icecream"/>
              <a:ea typeface="AC Soft Icecream"/>
              <a:cs typeface="AC Soft Icecream"/>
              <a:sym typeface="AC Soft Icecream"/>
            </a:endParaRPr>
          </a:p>
          <a:p>
            <a:pPr algn="just">
              <a:lnSpc>
                <a:spcPts val="2498"/>
              </a:lnSpc>
            </a:pPr>
            <a:r>
              <a:rPr lang="en-US" sz="1784">
                <a:solidFill>
                  <a:srgbClr val="010A50"/>
                </a:solidFill>
                <a:latin typeface="AC Soft Icecream"/>
                <a:ea typeface="AC Soft Icecream"/>
                <a:cs typeface="AC Soft Icecream"/>
                <a:sym typeface="AC Soft Icecream"/>
              </a:rPr>
              <a:t>Τα δεδομένα μπορούν να μεταδοθούν μόνο μέσω του </a:t>
            </a:r>
            <a:r>
              <a:rPr lang="en-US" sz="1784">
                <a:solidFill>
                  <a:srgbClr val="2A5D5E"/>
                </a:solidFill>
                <a:latin typeface="AC Soft Icecream"/>
                <a:ea typeface="AC Soft Icecream"/>
                <a:cs typeface="AC Soft Icecream"/>
                <a:sym typeface="AC Soft Icecream"/>
              </a:rPr>
              <a:t>φυσικού επιπέδου (Physical Layer)</a:t>
            </a:r>
            <a:r>
              <a:rPr lang="en-US" sz="1784">
                <a:solidFill>
                  <a:srgbClr val="010A50"/>
                </a:solidFill>
                <a:latin typeface="AC Soft Icecream"/>
                <a:ea typeface="AC Soft Icecream"/>
                <a:cs typeface="AC Soft Icecream"/>
                <a:sym typeface="AC Soft Icecream"/>
              </a:rPr>
              <a:t> και του </a:t>
            </a:r>
            <a:r>
              <a:rPr lang="en-US" sz="1784">
                <a:solidFill>
                  <a:srgbClr val="2A5D5E"/>
                </a:solidFill>
                <a:latin typeface="AC Soft Icecream"/>
                <a:ea typeface="AC Soft Icecream"/>
                <a:cs typeface="AC Soft Icecream"/>
                <a:sym typeface="AC Soft Icecream"/>
              </a:rPr>
              <a:t>επιπέδου σύνδεσης δεδομένων (Data Link Layer)</a:t>
            </a:r>
            <a:r>
              <a:rPr lang="en-US" sz="1784">
                <a:solidFill>
                  <a:srgbClr val="010A50"/>
                </a:solidFill>
                <a:latin typeface="AC Soft Icecream"/>
                <a:ea typeface="AC Soft Icecream"/>
                <a:cs typeface="AC Soft Icecream"/>
                <a:sym typeface="AC Soft Icecream"/>
              </a:rPr>
              <a:t>. Έτσι, δεν υπάρχει και η ανάγκη για κεφαλίδες πακέτων ή προγράμματα αποσυμπίεσης σε κάθε επίπεδο, γεγονός που οδηγεί σε γρήγορη απόκριση, μειώνοντας την καθυστέρηση που προκαλείται από την απώλεια πακέτων σε δίκτυα με συμφόρηση. </a:t>
            </a:r>
          </a:p>
          <a:p>
            <a:pPr algn="just">
              <a:lnSpc>
                <a:spcPts val="2498"/>
              </a:lnSpc>
            </a:pPr>
            <a:endParaRPr lang="en-US" sz="1784">
              <a:solidFill>
                <a:srgbClr val="010A50"/>
              </a:solidFill>
              <a:latin typeface="AC Soft Icecream"/>
              <a:ea typeface="AC Soft Icecream"/>
              <a:cs typeface="AC Soft Icecream"/>
              <a:sym typeface="AC Soft Icecream"/>
            </a:endParaRPr>
          </a:p>
        </p:txBody>
      </p:sp>
      <p:sp>
        <p:nvSpPr>
          <p:cNvPr id="3" name="Freeform 3"/>
          <p:cNvSpPr/>
          <p:nvPr/>
        </p:nvSpPr>
        <p:spPr>
          <a:xfrm>
            <a:off x="8862031" y="5679518"/>
            <a:ext cx="8397269" cy="3578782"/>
          </a:xfrm>
          <a:custGeom>
            <a:avLst/>
            <a:gdLst/>
            <a:ahLst/>
            <a:cxnLst/>
            <a:rect l="l" t="t" r="r" b="b"/>
            <a:pathLst>
              <a:path w="8397269" h="3578782">
                <a:moveTo>
                  <a:pt x="0" y="0"/>
                </a:moveTo>
                <a:lnTo>
                  <a:pt x="8397269" y="0"/>
                </a:lnTo>
                <a:lnTo>
                  <a:pt x="8397269" y="3578782"/>
                </a:lnTo>
                <a:lnTo>
                  <a:pt x="0" y="3578782"/>
                </a:lnTo>
                <a:lnTo>
                  <a:pt x="0" y="0"/>
                </a:lnTo>
                <a:close/>
              </a:path>
            </a:pathLst>
          </a:custGeom>
          <a:blipFill>
            <a:blip r:embed="rId3"/>
            <a:stretch>
              <a:fillRect l="-14051" r="-14051"/>
            </a:stretch>
          </a:blipFill>
        </p:spPr>
      </p:sp>
      <p:sp>
        <p:nvSpPr>
          <p:cNvPr id="4" name="Freeform 4"/>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3286228" y="5983111"/>
            <a:ext cx="4778721" cy="3275189"/>
          </a:xfrm>
          <a:custGeom>
            <a:avLst/>
            <a:gdLst/>
            <a:ahLst/>
            <a:cxnLst/>
            <a:rect l="l" t="t" r="r" b="b"/>
            <a:pathLst>
              <a:path w="4778721" h="3275189">
                <a:moveTo>
                  <a:pt x="0" y="0"/>
                </a:moveTo>
                <a:lnTo>
                  <a:pt x="4778721" y="0"/>
                </a:lnTo>
                <a:lnTo>
                  <a:pt x="4778721" y="3275189"/>
                </a:lnTo>
                <a:lnTo>
                  <a:pt x="0" y="3275189"/>
                </a:lnTo>
                <a:lnTo>
                  <a:pt x="0" y="0"/>
                </a:lnTo>
                <a:close/>
              </a:path>
            </a:pathLst>
          </a:custGeom>
          <a:blipFill>
            <a:blip r:embed="rId8"/>
            <a:stretch>
              <a:fillRect l="-601"/>
            </a:stretch>
          </a:blipFill>
        </p:spPr>
      </p:sp>
      <p:sp>
        <p:nvSpPr>
          <p:cNvPr id="7" name="TextBox 7"/>
          <p:cNvSpPr txBox="1"/>
          <p:nvPr/>
        </p:nvSpPr>
        <p:spPr>
          <a:xfrm>
            <a:off x="6465242" y="187023"/>
            <a:ext cx="5894586" cy="743793"/>
          </a:xfrm>
          <a:prstGeom prst="rect">
            <a:avLst/>
          </a:prstGeom>
        </p:spPr>
        <p:txBody>
          <a:bodyPr wrap="square" lIns="0" tIns="0" rIns="0" bIns="0" rtlCol="0" anchor="t">
            <a:spAutoFit/>
          </a:bodyPr>
          <a:lstStyle/>
          <a:p>
            <a:pPr algn="ctr">
              <a:lnSpc>
                <a:spcPts val="5768"/>
              </a:lnSpc>
            </a:pPr>
            <a:r>
              <a:rPr lang="en-US" sz="4800" b="1" dirty="0">
                <a:solidFill>
                  <a:srgbClr val="010A50"/>
                </a:solidFill>
                <a:latin typeface="Noto Sans Bold"/>
                <a:ea typeface="Noto Sans Bold"/>
                <a:cs typeface="Noto Sans Bold"/>
                <a:sym typeface="Noto Sans Bold"/>
              </a:rPr>
              <a:t>HOW IT WORKS?</a:t>
            </a:r>
          </a:p>
        </p:txBody>
      </p:sp>
      <p:sp>
        <p:nvSpPr>
          <p:cNvPr id="8" name="TextBox 8"/>
          <p:cNvSpPr txBox="1"/>
          <p:nvPr/>
        </p:nvSpPr>
        <p:spPr>
          <a:xfrm>
            <a:off x="8323981" y="1769675"/>
            <a:ext cx="2177108" cy="519332"/>
          </a:xfrm>
          <a:prstGeom prst="rect">
            <a:avLst/>
          </a:prstGeom>
        </p:spPr>
        <p:txBody>
          <a:bodyPr lIns="0" tIns="0" rIns="0" bIns="0" rtlCol="0" anchor="t">
            <a:spAutoFit/>
          </a:bodyPr>
          <a:lstStyle/>
          <a:p>
            <a:pPr algn="ctr">
              <a:lnSpc>
                <a:spcPts val="4100"/>
              </a:lnSpc>
            </a:pPr>
            <a:r>
              <a:rPr lang="en-US" sz="2928" b="1" dirty="0">
                <a:solidFill>
                  <a:srgbClr val="010A50"/>
                </a:solidFill>
                <a:latin typeface="DejaVu Serif Bold"/>
                <a:ea typeface="DejaVu Serif Bold"/>
                <a:cs typeface="DejaVu Serif Bold"/>
                <a:sym typeface="DejaVu Serif Bold"/>
              </a:rPr>
              <a:t>ESP-NOW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540655" y="5143500"/>
            <a:ext cx="5206687" cy="5206687"/>
          </a:xfrm>
          <a:custGeom>
            <a:avLst/>
            <a:gdLst/>
            <a:ahLst/>
            <a:cxnLst/>
            <a:rect l="l" t="t" r="r" b="b"/>
            <a:pathLst>
              <a:path w="5206687" h="5206687">
                <a:moveTo>
                  <a:pt x="0" y="0"/>
                </a:moveTo>
                <a:lnTo>
                  <a:pt x="5206687" y="0"/>
                </a:lnTo>
                <a:lnTo>
                  <a:pt x="5206687" y="5206687"/>
                </a:lnTo>
                <a:lnTo>
                  <a:pt x="0" y="5206687"/>
                </a:lnTo>
                <a:lnTo>
                  <a:pt x="0" y="0"/>
                </a:lnTo>
                <a:close/>
              </a:path>
            </a:pathLst>
          </a:custGeom>
          <a:blipFill>
            <a:blip r:embed="rId2"/>
            <a:stretch>
              <a:fillRect/>
            </a:stretch>
          </a:blipFill>
        </p:spPr>
      </p:sp>
      <p:sp>
        <p:nvSpPr>
          <p:cNvPr id="3" name="TextBox 3"/>
          <p:cNvSpPr txBox="1"/>
          <p:nvPr/>
        </p:nvSpPr>
        <p:spPr>
          <a:xfrm>
            <a:off x="6144628" y="222995"/>
            <a:ext cx="5998742" cy="718145"/>
          </a:xfrm>
          <a:prstGeom prst="rect">
            <a:avLst/>
          </a:prstGeom>
        </p:spPr>
        <p:txBody>
          <a:bodyPr wrap="square" lIns="0" tIns="0" rIns="0" bIns="0" rtlCol="0" anchor="t">
            <a:spAutoFit/>
          </a:bodyPr>
          <a:lstStyle/>
          <a:p>
            <a:pPr algn="ctr">
              <a:lnSpc>
                <a:spcPts val="5628"/>
              </a:lnSpc>
            </a:pPr>
            <a:r>
              <a:rPr lang="en-US" sz="4800" b="1" dirty="0">
                <a:solidFill>
                  <a:srgbClr val="010A50"/>
                </a:solidFill>
                <a:latin typeface="Noto Sans Bold"/>
                <a:ea typeface="Noto Sans Bold"/>
                <a:cs typeface="Noto Sans Bold"/>
                <a:sym typeface="Noto Sans Bold"/>
              </a:rPr>
              <a:t>HOW IT WORKS?</a:t>
            </a:r>
          </a:p>
        </p:txBody>
      </p:sp>
      <p:sp>
        <p:nvSpPr>
          <p:cNvPr id="4" name="TextBox 4"/>
          <p:cNvSpPr txBox="1"/>
          <p:nvPr/>
        </p:nvSpPr>
        <p:spPr>
          <a:xfrm>
            <a:off x="1225968" y="2552700"/>
            <a:ext cx="15836059" cy="3059888"/>
          </a:xfrm>
          <a:prstGeom prst="rect">
            <a:avLst/>
          </a:prstGeom>
        </p:spPr>
        <p:txBody>
          <a:bodyPr lIns="0" tIns="0" rIns="0" bIns="0" rtlCol="0" anchor="t">
            <a:spAutoFit/>
          </a:bodyPr>
          <a:lstStyle/>
          <a:p>
            <a:pPr algn="just">
              <a:lnSpc>
                <a:spcPts val="3019"/>
              </a:lnSpc>
            </a:pPr>
            <a:r>
              <a:rPr lang="en-US" sz="2156" dirty="0" err="1">
                <a:solidFill>
                  <a:srgbClr val="010A50"/>
                </a:solidFill>
                <a:latin typeface="AC Soft Icecream"/>
                <a:ea typeface="AC Soft Icecream"/>
                <a:cs typeface="AC Soft Icecream"/>
                <a:sym typeface="AC Soft Icecream"/>
              </a:rPr>
              <a:t>Μέσ</a:t>
            </a:r>
            <a:r>
              <a:rPr lang="en-US" sz="2156" dirty="0">
                <a:solidFill>
                  <a:srgbClr val="010A50"/>
                </a:solidFill>
                <a:latin typeface="AC Soft Icecream"/>
                <a:ea typeface="AC Soft Icecream"/>
                <a:cs typeface="AC Soft Icecream"/>
                <a:sym typeface="AC Soft Icecream"/>
              </a:rPr>
              <a:t>α στα ακουστικά, όπως αναφέραμε, βρίσκεται ενωσματωμένη και η πλακέτα αναγνώρισης φωνητικών εντολών, η </a:t>
            </a:r>
            <a:r>
              <a:rPr lang="en-US" sz="2156" dirty="0">
                <a:solidFill>
                  <a:srgbClr val="D14725"/>
                </a:solidFill>
                <a:latin typeface="AC Soft Icecream"/>
                <a:ea typeface="AC Soft Icecream"/>
                <a:cs typeface="AC Soft Icecream"/>
                <a:sym typeface="AC Soft Icecream"/>
              </a:rPr>
              <a:t>Voice Recognition Module V3 (VMR V3)</a:t>
            </a:r>
            <a:r>
              <a:rPr lang="en-US" sz="2156" dirty="0">
                <a:solidFill>
                  <a:srgbClr val="010A50"/>
                </a:solidFill>
                <a:latin typeface="AC Soft Icecream"/>
                <a:ea typeface="AC Soft Icecream"/>
                <a:cs typeface="AC Soft Icecream"/>
                <a:sym typeface="AC Soft Icecream"/>
              </a:rPr>
              <a:t> της Elechouse. Πρόκειται για μια αυτόνομη μονάδα φωνητικής αναγνώρισης, σχεδιασμένη ώστε να μπορεί να ενσωματωθεί πολύ εύκολα σε συστήματα τα οποία δρουν μέσω φωνητικών εντολών από τον χρήστη, είτε με την βοήθεια μικροελεγκτών χωρίς να απαιτείται κάποιου είδους σύνδεσης με εξωτερικό υπολογιστή ή ακόμη και σύνδεση στο cloud. Η </a:t>
            </a:r>
            <a:r>
              <a:rPr lang="en-US" sz="2156" dirty="0" err="1">
                <a:solidFill>
                  <a:srgbClr val="010A50"/>
                </a:solidFill>
                <a:latin typeface="AC Soft Icecream"/>
                <a:ea typeface="AC Soft Icecream"/>
                <a:cs typeface="AC Soft Icecream"/>
                <a:sym typeface="AC Soft Icecream"/>
              </a:rPr>
              <a:t>μονάδ</a:t>
            </a:r>
            <a:r>
              <a:rPr lang="en-US" sz="2156" dirty="0">
                <a:solidFill>
                  <a:srgbClr val="010A50"/>
                </a:solidFill>
                <a:latin typeface="AC Soft Icecream"/>
                <a:ea typeface="AC Soft Icecream"/>
                <a:cs typeface="AC Soft Icecream"/>
                <a:sym typeface="AC Soft Icecream"/>
              </a:rPr>
              <a:t>α φωνητικής αναγνώρισης λειτουργεί στα </a:t>
            </a:r>
            <a:r>
              <a:rPr lang="en-US" sz="2156" dirty="0">
                <a:solidFill>
                  <a:srgbClr val="2A5D5E"/>
                </a:solidFill>
                <a:latin typeface="AC Soft Icecream"/>
                <a:ea typeface="AC Soft Icecream"/>
                <a:cs typeface="AC Soft Icecream"/>
                <a:sym typeface="AC Soft Icecream"/>
              </a:rPr>
              <a:t>3.3V-5V στο DC</a:t>
            </a:r>
            <a:r>
              <a:rPr lang="en-US" sz="2156" dirty="0">
                <a:solidFill>
                  <a:srgbClr val="010A50"/>
                </a:solidFill>
                <a:latin typeface="AC Soft Icecream"/>
                <a:ea typeface="AC Soft Icecream"/>
                <a:cs typeface="AC Soft Icecream"/>
                <a:sym typeface="AC Soft Icecream"/>
              </a:rPr>
              <a:t> (συνεχές ρεύμα), είναι </a:t>
            </a:r>
            <a:r>
              <a:rPr lang="en-US" sz="2156" dirty="0">
                <a:solidFill>
                  <a:srgbClr val="2A5D5E"/>
                </a:solidFill>
                <a:latin typeface="AC Soft Icecream"/>
                <a:ea typeface="AC Soft Icecream"/>
                <a:cs typeface="AC Soft Icecream"/>
                <a:sym typeface="AC Soft Icecream"/>
              </a:rPr>
              <a:t>μικρή σε μέγεθος</a:t>
            </a:r>
            <a:r>
              <a:rPr lang="en-US" sz="2156" dirty="0">
                <a:solidFill>
                  <a:srgbClr val="010A50"/>
                </a:solidFill>
                <a:latin typeface="AC Soft Icecream"/>
                <a:ea typeface="AC Soft Icecream"/>
                <a:cs typeface="AC Soft Icecream"/>
                <a:sym typeface="AC Soft Icecream"/>
              </a:rPr>
              <a:t> (31mm x 50mm), πράγμα που την καθιστά ιδανική για χρήση σε ρομποτικά συστήματα για τον έλεγχο κίνησης, για εντολές τύπου “one-shot” σε συστήματα IoT, για χρήσεις home automation (έξυπνο σπίτι) κ.ά.</a:t>
            </a:r>
          </a:p>
          <a:p>
            <a:pPr algn="just">
              <a:lnSpc>
                <a:spcPts val="3019"/>
              </a:lnSpc>
            </a:pPr>
            <a:endParaRPr lang="en-US" sz="2156" dirty="0">
              <a:solidFill>
                <a:srgbClr val="010A50"/>
              </a:solidFill>
              <a:latin typeface="AC Soft Icecream"/>
              <a:ea typeface="AC Soft Icecream"/>
              <a:cs typeface="AC Soft Icecream"/>
              <a:sym typeface="AC Soft Icecream"/>
            </a:endParaRPr>
          </a:p>
        </p:txBody>
      </p:sp>
      <p:sp>
        <p:nvSpPr>
          <p:cNvPr id="5" name="TextBox 5"/>
          <p:cNvSpPr txBox="1"/>
          <p:nvPr/>
        </p:nvSpPr>
        <p:spPr>
          <a:xfrm>
            <a:off x="5562600" y="1429968"/>
            <a:ext cx="7467600" cy="472117"/>
          </a:xfrm>
          <a:prstGeom prst="rect">
            <a:avLst/>
          </a:prstGeom>
        </p:spPr>
        <p:txBody>
          <a:bodyPr wrap="square" lIns="0" tIns="0" rIns="0" bIns="0" rtlCol="0" anchor="t">
            <a:spAutoFit/>
          </a:bodyPr>
          <a:lstStyle/>
          <a:p>
            <a:pPr algn="ctr">
              <a:lnSpc>
                <a:spcPts val="3960"/>
              </a:lnSpc>
            </a:pPr>
            <a:r>
              <a:rPr lang="en-US" sz="2828" b="1" dirty="0">
                <a:solidFill>
                  <a:srgbClr val="010A50"/>
                </a:solidFill>
                <a:latin typeface="DejaVu Serif Bold"/>
                <a:ea typeface="DejaVu Serif Bold"/>
                <a:cs typeface="DejaVu Serif Bold"/>
                <a:sym typeface="DejaVu Serif Bold"/>
              </a:rPr>
              <a:t>Voice Recognition Module (VRM V3)</a:t>
            </a:r>
          </a:p>
        </p:txBody>
      </p:sp>
      <p:sp>
        <p:nvSpPr>
          <p:cNvPr id="6" name="Freeform 6"/>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36468" y="292694"/>
            <a:ext cx="7615062" cy="743793"/>
          </a:xfrm>
          <a:prstGeom prst="rect">
            <a:avLst/>
          </a:prstGeom>
        </p:spPr>
        <p:txBody>
          <a:bodyPr wrap="square" lIns="0" tIns="0" rIns="0" bIns="0" rtlCol="0" anchor="t">
            <a:spAutoFit/>
          </a:bodyPr>
          <a:lstStyle/>
          <a:p>
            <a:pPr algn="ctr">
              <a:lnSpc>
                <a:spcPts val="5768"/>
              </a:lnSpc>
            </a:pPr>
            <a:r>
              <a:rPr lang="en-US" sz="4800" b="1" dirty="0">
                <a:solidFill>
                  <a:srgbClr val="010A50"/>
                </a:solidFill>
                <a:latin typeface="Noto Sans Bold"/>
                <a:ea typeface="Noto Sans Bold"/>
                <a:cs typeface="Noto Sans Bold"/>
                <a:sym typeface="Noto Sans Bold"/>
              </a:rPr>
              <a:t>HOW IT WORKS?</a:t>
            </a:r>
          </a:p>
        </p:txBody>
      </p:sp>
      <p:sp>
        <p:nvSpPr>
          <p:cNvPr id="3" name="TextBox 3"/>
          <p:cNvSpPr txBox="1"/>
          <p:nvPr/>
        </p:nvSpPr>
        <p:spPr>
          <a:xfrm>
            <a:off x="5491337" y="1375456"/>
            <a:ext cx="8146504" cy="542827"/>
          </a:xfrm>
          <a:prstGeom prst="rect">
            <a:avLst/>
          </a:prstGeom>
        </p:spPr>
        <p:txBody>
          <a:bodyPr lIns="0" tIns="0" rIns="0" bIns="0" rtlCol="0" anchor="t">
            <a:spAutoFit/>
          </a:bodyPr>
          <a:lstStyle/>
          <a:p>
            <a:pPr algn="ctr">
              <a:lnSpc>
                <a:spcPts val="4380"/>
              </a:lnSpc>
            </a:pPr>
            <a:r>
              <a:rPr lang="en-US" sz="3128" b="1">
                <a:solidFill>
                  <a:srgbClr val="010A50"/>
                </a:solidFill>
                <a:latin typeface="DejaVu Serif Bold"/>
                <a:ea typeface="DejaVu Serif Bold"/>
                <a:cs typeface="DejaVu Serif Bold"/>
                <a:sym typeface="DejaVu Serif Bold"/>
              </a:rPr>
              <a:t>Voice Recognition Module (VRM V3)</a:t>
            </a:r>
          </a:p>
        </p:txBody>
      </p:sp>
      <p:sp>
        <p:nvSpPr>
          <p:cNvPr id="4" name="TextBox 4"/>
          <p:cNvSpPr txBox="1"/>
          <p:nvPr/>
        </p:nvSpPr>
        <p:spPr>
          <a:xfrm>
            <a:off x="1225970" y="2552694"/>
            <a:ext cx="15836059" cy="2176603"/>
          </a:xfrm>
          <a:prstGeom prst="rect">
            <a:avLst/>
          </a:prstGeom>
        </p:spPr>
        <p:txBody>
          <a:bodyPr lIns="0" tIns="0" rIns="0" bIns="0" rtlCol="0" anchor="t">
            <a:spAutoFit/>
          </a:bodyPr>
          <a:lstStyle/>
          <a:p>
            <a:pPr algn="just">
              <a:lnSpc>
                <a:spcPts val="2879"/>
              </a:lnSpc>
            </a:pPr>
            <a:r>
              <a:rPr lang="en-US" sz="2056">
                <a:solidFill>
                  <a:srgbClr val="010A50"/>
                </a:solidFill>
                <a:latin typeface="AC Soft Icecream"/>
                <a:ea typeface="AC Soft Icecream"/>
                <a:cs typeface="AC Soft Icecream"/>
                <a:sym typeface="AC Soft Icecream"/>
              </a:rPr>
              <a:t>Η πλακέτα είναι εξοπλισμένη με ενσωματωμένο </a:t>
            </a:r>
            <a:r>
              <a:rPr lang="en-US" sz="2056">
                <a:solidFill>
                  <a:srgbClr val="D14725"/>
                </a:solidFill>
                <a:latin typeface="AC Soft Icecream"/>
                <a:ea typeface="AC Soft Icecream"/>
                <a:cs typeface="AC Soft Icecream"/>
                <a:sym typeface="AC Soft Icecream"/>
              </a:rPr>
              <a:t>μονοκατευθυντικό μικρόφωνο τύπου MEMS (Micro-Electro-Mechanical Systems)</a:t>
            </a:r>
            <a:r>
              <a:rPr lang="en-US" sz="2056">
                <a:solidFill>
                  <a:srgbClr val="010A50"/>
                </a:solidFill>
                <a:latin typeface="AC Soft Icecream"/>
                <a:ea typeface="AC Soft Icecream"/>
                <a:cs typeface="AC Soft Icecream"/>
                <a:sym typeface="AC Soft Icecream"/>
              </a:rPr>
              <a:t>. Το μικρόφωνο είναι </a:t>
            </a:r>
            <a:r>
              <a:rPr lang="en-US" sz="2056">
                <a:solidFill>
                  <a:srgbClr val="2A5D5E"/>
                </a:solidFill>
                <a:latin typeface="AC Soft Icecream"/>
                <a:ea typeface="AC Soft Icecream"/>
                <a:cs typeface="AC Soft Icecream"/>
                <a:sym typeface="AC Soft Icecream"/>
              </a:rPr>
              <a:t>μικρό σε μέγεθος</a:t>
            </a:r>
            <a:r>
              <a:rPr lang="en-US" sz="2056">
                <a:solidFill>
                  <a:srgbClr val="010A50"/>
                </a:solidFill>
                <a:latin typeface="AC Soft Icecream"/>
                <a:ea typeface="AC Soft Icecream"/>
                <a:cs typeface="AC Soft Icecream"/>
                <a:sym typeface="AC Soft Icecream"/>
              </a:rPr>
              <a:t>, αλλά ταυτόχρονα </a:t>
            </a:r>
            <a:r>
              <a:rPr lang="en-US" sz="2056">
                <a:solidFill>
                  <a:srgbClr val="2A5D5E"/>
                </a:solidFill>
                <a:latin typeface="AC Soft Icecream"/>
                <a:ea typeface="AC Soft Icecream"/>
                <a:cs typeface="AC Soft Icecream"/>
                <a:sym typeface="AC Soft Icecream"/>
              </a:rPr>
              <a:t>χαμηλό σε κατανάλωση</a:t>
            </a:r>
            <a:r>
              <a:rPr lang="en-US" sz="2056">
                <a:solidFill>
                  <a:srgbClr val="010A50"/>
                </a:solidFill>
                <a:latin typeface="AC Soft Icecream"/>
                <a:ea typeface="AC Soft Icecream"/>
                <a:cs typeface="AC Soft Icecream"/>
                <a:sym typeface="AC Soft Icecream"/>
              </a:rPr>
              <a:t>. Είναι σχεδιασμένο να δέχεται τον ήχο κυρίως </a:t>
            </a:r>
            <a:r>
              <a:rPr lang="en-US" sz="2056">
                <a:solidFill>
                  <a:srgbClr val="2A5D5E"/>
                </a:solidFill>
                <a:latin typeface="AC Soft Icecream"/>
                <a:ea typeface="AC Soft Icecream"/>
                <a:cs typeface="AC Soft Icecream"/>
                <a:sym typeface="AC Soft Icecream"/>
              </a:rPr>
              <a:t>από την μία κατεύθυνση (uni-directional)</a:t>
            </a:r>
            <a:r>
              <a:rPr lang="en-US" sz="2056">
                <a:solidFill>
                  <a:srgbClr val="010A50"/>
                </a:solidFill>
                <a:latin typeface="AC Soft Icecream"/>
                <a:ea typeface="AC Soft Icecream"/>
                <a:cs typeface="AC Soft Icecream"/>
                <a:sym typeface="AC Soft Icecream"/>
              </a:rPr>
              <a:t>, μειώνοντας τον περιβαλλοντικό θόρυβο. Ένα τέτοιο μικρόφωνο ενδείκνυται για φωνητικές εντολές μικρών αποστάσεων (≈ 20-50 εκατοστά για την βέλτιστη ακρίβεια – περίπου 99% σε ιδανικές συνθήκες περιβάλλοντος). Επιπλέον, στην VRM μέσω της υποδοχής audio jack, μπορούμε να συνδέσουμε και ένα εξωτερικό μικρόφωνο, γνωστό και ως </a:t>
            </a:r>
            <a:r>
              <a:rPr lang="en-US" sz="2056">
                <a:solidFill>
                  <a:srgbClr val="D14725"/>
                </a:solidFill>
                <a:latin typeface="AC Soft Icecream"/>
                <a:ea typeface="AC Soft Icecream"/>
                <a:cs typeface="AC Soft Icecream"/>
                <a:sym typeface="AC Soft Icecream"/>
              </a:rPr>
              <a:t>gooseneck</a:t>
            </a:r>
            <a:r>
              <a:rPr lang="en-US" sz="2056">
                <a:solidFill>
                  <a:srgbClr val="010A50"/>
                </a:solidFill>
                <a:latin typeface="AC Soft Icecream"/>
                <a:ea typeface="AC Soft Icecream"/>
                <a:cs typeface="AC Soft Icecream"/>
                <a:sym typeface="AC Soft Icecream"/>
              </a:rPr>
              <a:t>, το οποίο είναι εξοπλισμένο με σφουγγαράκι για καλύτερη απόσβεση του θορύβου που δέχεται το μικρόφωνο (π.χ. από την αναπνοή ή τον αέρα).</a:t>
            </a:r>
          </a:p>
        </p:txBody>
      </p:sp>
      <p:sp>
        <p:nvSpPr>
          <p:cNvPr id="5" name="TextBox 5"/>
          <p:cNvSpPr txBox="1"/>
          <p:nvPr/>
        </p:nvSpPr>
        <p:spPr>
          <a:xfrm>
            <a:off x="1225970" y="5646860"/>
            <a:ext cx="15836059" cy="2538553"/>
          </a:xfrm>
          <a:prstGeom prst="rect">
            <a:avLst/>
          </a:prstGeom>
        </p:spPr>
        <p:txBody>
          <a:bodyPr lIns="0" tIns="0" rIns="0" bIns="0" rtlCol="0" anchor="t">
            <a:spAutoFit/>
          </a:bodyPr>
          <a:lstStyle/>
          <a:p>
            <a:pPr algn="just">
              <a:lnSpc>
                <a:spcPts val="2879"/>
              </a:lnSpc>
            </a:pPr>
            <a:r>
              <a:rPr lang="en-US" sz="2056">
                <a:solidFill>
                  <a:srgbClr val="010A50"/>
                </a:solidFill>
                <a:latin typeface="AC Soft Icecream"/>
                <a:ea typeface="AC Soft Icecream"/>
                <a:cs typeface="AC Soft Icecream"/>
                <a:sym typeface="AC Soft Icecream"/>
              </a:rPr>
              <a:t>Η πλακέτα αναγνώρισης φωνής υποστηρίζει εντολές εκπαίδευσης (training) από τον χρήστη. Μπορεί να εκπαιδευτεί τοπικά με</a:t>
            </a:r>
            <a:r>
              <a:rPr lang="en-US" sz="2056">
                <a:solidFill>
                  <a:srgbClr val="D14725"/>
                </a:solidFill>
                <a:latin typeface="AC Soft Icecream"/>
                <a:ea typeface="AC Soft Icecream"/>
                <a:cs typeface="AC Soft Icecream"/>
                <a:sym typeface="AC Soft Icecream"/>
              </a:rPr>
              <a:t> μέχρι 80 λέξεις/εντολές</a:t>
            </a:r>
            <a:r>
              <a:rPr lang="en-US" sz="2056">
                <a:solidFill>
                  <a:srgbClr val="010A50"/>
                </a:solidFill>
                <a:latin typeface="AC Soft Icecream"/>
                <a:ea typeface="AC Soft Icecream"/>
                <a:cs typeface="AC Soft Icecream"/>
                <a:sym typeface="AC Soft Icecream"/>
              </a:rPr>
              <a:t>, έχοντας την δυνατότητα να υποστηρίξει </a:t>
            </a:r>
            <a:r>
              <a:rPr lang="en-US" sz="2056">
                <a:solidFill>
                  <a:srgbClr val="D14725"/>
                </a:solidFill>
                <a:latin typeface="AC Soft Icecream"/>
                <a:ea typeface="AC Soft Icecream"/>
                <a:cs typeface="AC Soft Icecream"/>
                <a:sym typeface="AC Soft Icecream"/>
              </a:rPr>
              <a:t>μέχρι 7 λέξεις/εντολές ενεργές τη φορά</a:t>
            </a:r>
            <a:r>
              <a:rPr lang="en-US" sz="2056">
                <a:solidFill>
                  <a:srgbClr val="010A50"/>
                </a:solidFill>
                <a:latin typeface="AC Soft Icecream"/>
                <a:ea typeface="AC Soft Icecream"/>
                <a:cs typeface="AC Soft Icecream"/>
                <a:sym typeface="AC Soft Icecream"/>
              </a:rPr>
              <a:t>, δηλαδή η VRM</a:t>
            </a:r>
            <a:r>
              <a:rPr lang="en-US" sz="2056">
                <a:solidFill>
                  <a:srgbClr val="2A5D5E"/>
                </a:solidFill>
                <a:latin typeface="AC Soft Icecream"/>
                <a:ea typeface="AC Soft Icecream"/>
                <a:cs typeface="AC Soft Icecream"/>
                <a:sym typeface="AC Soft Icecream"/>
              </a:rPr>
              <a:t> «ακούει» και αναγνωρίζει μόνο αυτές τις επτά</a:t>
            </a:r>
            <a:r>
              <a:rPr lang="en-US" sz="2056">
                <a:solidFill>
                  <a:srgbClr val="010A50"/>
                </a:solidFill>
                <a:latin typeface="AC Soft Icecream"/>
                <a:ea typeface="AC Soft Icecream"/>
                <a:cs typeface="AC Soft Icecream"/>
                <a:sym typeface="AC Soft Icecream"/>
              </a:rPr>
              <a:t>. Οι εντολές που μπορεί να δεχθεί και να αποθηκεύσει σε κάθε θέση μνήμης πρέπει να είναι </a:t>
            </a:r>
            <a:r>
              <a:rPr lang="en-US" sz="2056">
                <a:solidFill>
                  <a:srgbClr val="2A5D5E"/>
                </a:solidFill>
                <a:latin typeface="AC Soft Icecream"/>
                <a:ea typeface="AC Soft Icecream"/>
                <a:cs typeface="AC Soft Icecream"/>
                <a:sym typeface="AC Soft Icecream"/>
              </a:rPr>
              <a:t>είτε δύο λέξεις</a:t>
            </a:r>
            <a:r>
              <a:rPr lang="en-US" sz="2056">
                <a:solidFill>
                  <a:srgbClr val="010A50"/>
                </a:solidFill>
                <a:latin typeface="AC Soft Icecream"/>
                <a:ea typeface="AC Soft Icecream"/>
                <a:cs typeface="AC Soft Icecream"/>
                <a:sym typeface="AC Soft Icecream"/>
              </a:rPr>
              <a:t> με </a:t>
            </a:r>
            <a:r>
              <a:rPr lang="en-US" sz="2056">
                <a:solidFill>
                  <a:srgbClr val="2A5D5E"/>
                </a:solidFill>
                <a:latin typeface="AC Soft Icecream"/>
                <a:ea typeface="AC Soft Icecream"/>
                <a:cs typeface="AC Soft Icecream"/>
                <a:sym typeface="AC Soft Icecream"/>
              </a:rPr>
              <a:t>μέγιστη διάρκεια 1.5 δευτερόλεπτα (1500ms)</a:t>
            </a:r>
            <a:r>
              <a:rPr lang="en-US" sz="2056">
                <a:solidFill>
                  <a:srgbClr val="010A50"/>
                </a:solidFill>
                <a:latin typeface="AC Soft Icecream"/>
                <a:ea typeface="AC Soft Icecream"/>
                <a:cs typeface="AC Soft Icecream"/>
                <a:sym typeface="AC Soft Icecream"/>
              </a:rPr>
              <a:t> είτε </a:t>
            </a:r>
            <a:r>
              <a:rPr lang="en-US" sz="2056">
                <a:solidFill>
                  <a:srgbClr val="2A5D5E"/>
                </a:solidFill>
                <a:latin typeface="AC Soft Icecream"/>
                <a:ea typeface="AC Soft Icecream"/>
                <a:cs typeface="AC Soft Icecream"/>
                <a:sym typeface="AC Soft Icecream"/>
              </a:rPr>
              <a:t>μία μόνο λέξη</a:t>
            </a:r>
            <a:r>
              <a:rPr lang="en-US" sz="2056">
                <a:solidFill>
                  <a:srgbClr val="010A50"/>
                </a:solidFill>
                <a:latin typeface="AC Soft Icecream"/>
                <a:ea typeface="AC Soft Icecream"/>
                <a:cs typeface="AC Soft Icecream"/>
                <a:sym typeface="AC Soft Icecream"/>
              </a:rPr>
              <a:t>. Κάθε εντολή με την ολοκλήρωση της προόνησής της αποθηκεύεται στη flash της πλακέτας με ένα συγκεκριμένο id. Εμείς στην ουσία στέλνουμε αυτό το id μέσω του ESP-NOW στο ρομπότ μας, αφού πρώτα αναγνωριστεί η εντολή από την VRM V3 και αφού ακούσουμε τον διπλό ήχο επιβεβαίωσης από τα ηχεία των ακουστικών. </a:t>
            </a:r>
          </a:p>
        </p:txBody>
      </p:sp>
      <p:sp>
        <p:nvSpPr>
          <p:cNvPr id="6" name="Freeform 6"/>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7" name="Freeform 7"/>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6303495" y="3072077"/>
            <a:ext cx="6522188" cy="4489746"/>
          </a:xfrm>
          <a:custGeom>
            <a:avLst/>
            <a:gdLst/>
            <a:ahLst/>
            <a:cxnLst/>
            <a:rect l="l" t="t" r="r" b="b"/>
            <a:pathLst>
              <a:path w="6522188" h="4489746">
                <a:moveTo>
                  <a:pt x="0" y="0"/>
                </a:moveTo>
                <a:lnTo>
                  <a:pt x="6522189" y="0"/>
                </a:lnTo>
                <a:lnTo>
                  <a:pt x="6522189" y="4489746"/>
                </a:lnTo>
                <a:lnTo>
                  <a:pt x="0" y="4489746"/>
                </a:lnTo>
                <a:lnTo>
                  <a:pt x="0" y="0"/>
                </a:lnTo>
                <a:close/>
              </a:path>
            </a:pathLst>
          </a:custGeom>
          <a:blipFill>
            <a:blip r:embed="rId2"/>
            <a:stretch>
              <a:fillRect/>
            </a:stretch>
          </a:blipFill>
        </p:spPr>
      </p:sp>
      <p:sp>
        <p:nvSpPr>
          <p:cNvPr id="3" name="TextBox 3"/>
          <p:cNvSpPr txBox="1"/>
          <p:nvPr/>
        </p:nvSpPr>
        <p:spPr>
          <a:xfrm>
            <a:off x="6057899" y="190500"/>
            <a:ext cx="6172200" cy="743793"/>
          </a:xfrm>
          <a:prstGeom prst="rect">
            <a:avLst/>
          </a:prstGeom>
        </p:spPr>
        <p:txBody>
          <a:bodyPr wrap="square" lIns="0" tIns="0" rIns="0" bIns="0" rtlCol="0" anchor="t">
            <a:spAutoFit/>
          </a:bodyPr>
          <a:lstStyle/>
          <a:p>
            <a:pPr algn="ctr">
              <a:lnSpc>
                <a:spcPts val="5768"/>
              </a:lnSpc>
            </a:pPr>
            <a:r>
              <a:rPr lang="en-US" sz="4800" b="1" dirty="0">
                <a:solidFill>
                  <a:srgbClr val="010A50"/>
                </a:solidFill>
                <a:latin typeface="Noto Sans Bold"/>
                <a:ea typeface="Noto Sans Bold"/>
                <a:cs typeface="Noto Sans Bold"/>
                <a:sym typeface="Noto Sans Bold"/>
              </a:rPr>
              <a:t>HOW IT WORKS?</a:t>
            </a:r>
          </a:p>
        </p:txBody>
      </p:sp>
      <p:sp>
        <p:nvSpPr>
          <p:cNvPr id="4" name="TextBox 4"/>
          <p:cNvSpPr txBox="1"/>
          <p:nvPr/>
        </p:nvSpPr>
        <p:spPr>
          <a:xfrm>
            <a:off x="5070747" y="1277194"/>
            <a:ext cx="8146504" cy="542827"/>
          </a:xfrm>
          <a:prstGeom prst="rect">
            <a:avLst/>
          </a:prstGeom>
        </p:spPr>
        <p:txBody>
          <a:bodyPr lIns="0" tIns="0" rIns="0" bIns="0" rtlCol="0" anchor="t">
            <a:spAutoFit/>
          </a:bodyPr>
          <a:lstStyle/>
          <a:p>
            <a:pPr algn="ctr">
              <a:lnSpc>
                <a:spcPts val="4380"/>
              </a:lnSpc>
            </a:pPr>
            <a:r>
              <a:rPr lang="en-US" sz="3128" b="1">
                <a:solidFill>
                  <a:srgbClr val="010A50"/>
                </a:solidFill>
                <a:latin typeface="DejaVu Serif Bold"/>
                <a:ea typeface="DejaVu Serif Bold"/>
                <a:cs typeface="DejaVu Serif Bold"/>
                <a:sym typeface="DejaVu Serif Bold"/>
              </a:rPr>
              <a:t>Voice Recognition Module (VRM V3)</a:t>
            </a:r>
          </a:p>
        </p:txBody>
      </p:sp>
      <p:sp>
        <p:nvSpPr>
          <p:cNvPr id="5" name="TextBox 5"/>
          <p:cNvSpPr txBox="1"/>
          <p:nvPr/>
        </p:nvSpPr>
        <p:spPr>
          <a:xfrm>
            <a:off x="1028700" y="2298190"/>
            <a:ext cx="15836059" cy="773888"/>
          </a:xfrm>
          <a:prstGeom prst="rect">
            <a:avLst/>
          </a:prstGeom>
        </p:spPr>
        <p:txBody>
          <a:bodyPr lIns="0" tIns="0" rIns="0" bIns="0" rtlCol="0" anchor="t">
            <a:spAutoFit/>
          </a:bodyPr>
          <a:lstStyle/>
          <a:p>
            <a:pPr algn="just">
              <a:lnSpc>
                <a:spcPts val="3019"/>
              </a:lnSpc>
            </a:pPr>
            <a:r>
              <a:rPr lang="en-US" sz="2156">
                <a:solidFill>
                  <a:srgbClr val="010A50"/>
                </a:solidFill>
                <a:latin typeface="AC Soft Icecream"/>
                <a:ea typeface="AC Soft Icecream"/>
                <a:cs typeface="AC Soft Icecream"/>
                <a:sym typeface="AC Soft Icecream"/>
              </a:rPr>
              <a:t>Όλες οι φωνητικές εντολές αποθηκεύονται σε </a:t>
            </a:r>
            <a:r>
              <a:rPr lang="en-US" sz="2156">
                <a:solidFill>
                  <a:srgbClr val="2A5D5E"/>
                </a:solidFill>
                <a:latin typeface="AC Soft Icecream"/>
                <a:ea typeface="AC Soft Icecream"/>
                <a:cs typeface="AC Soft Icecream"/>
                <a:sym typeface="AC Soft Icecream"/>
              </a:rPr>
              <a:t>ένα κοινό για όλες group </a:t>
            </a:r>
            <a:r>
              <a:rPr lang="en-US" sz="2156">
                <a:solidFill>
                  <a:srgbClr val="010A50"/>
                </a:solidFill>
                <a:latin typeface="AC Soft Icecream"/>
                <a:ea typeface="AC Soft Icecream"/>
                <a:cs typeface="AC Soft Icecream"/>
                <a:sym typeface="AC Soft Icecream"/>
              </a:rPr>
              <a:t>και μετά ο</a:t>
            </a:r>
            <a:r>
              <a:rPr lang="en-US" sz="2156">
                <a:solidFill>
                  <a:srgbClr val="D14725"/>
                </a:solidFill>
                <a:latin typeface="AC Soft Icecream"/>
                <a:ea typeface="AC Soft Icecream"/>
                <a:cs typeface="AC Soft Icecream"/>
                <a:sym typeface="AC Soft Icecream"/>
              </a:rPr>
              <a:t> αναγνωριστής (recognizer) </a:t>
            </a:r>
            <a:r>
              <a:rPr lang="en-US" sz="2156">
                <a:solidFill>
                  <a:srgbClr val="010A50"/>
                </a:solidFill>
                <a:latin typeface="AC Soft Icecream"/>
                <a:ea typeface="AC Soft Icecream"/>
                <a:cs typeface="AC Soft Icecream"/>
                <a:sym typeface="AC Soft Icecream"/>
              </a:rPr>
              <a:t>φορτώνει </a:t>
            </a:r>
            <a:r>
              <a:rPr lang="en-US" sz="2156">
                <a:solidFill>
                  <a:srgbClr val="2A5D5E"/>
                </a:solidFill>
                <a:latin typeface="AC Soft Icecream"/>
                <a:ea typeface="AC Soft Icecream"/>
                <a:cs typeface="AC Soft Icecream"/>
                <a:sym typeface="AC Soft Icecream"/>
              </a:rPr>
              <a:t>μόνο τις επτά εντολές</a:t>
            </a:r>
            <a:r>
              <a:rPr lang="en-US" sz="2156">
                <a:solidFill>
                  <a:srgbClr val="010A50"/>
                </a:solidFill>
                <a:latin typeface="AC Soft Icecream"/>
                <a:ea typeface="AC Soft Icecream"/>
                <a:cs typeface="AC Soft Icecream"/>
                <a:sym typeface="AC Soft Icecream"/>
              </a:rPr>
              <a:t> που θέλουμε κάθε φορά.</a:t>
            </a:r>
          </a:p>
        </p:txBody>
      </p:sp>
      <p:sp>
        <p:nvSpPr>
          <p:cNvPr id="6" name="TextBox 6"/>
          <p:cNvSpPr txBox="1"/>
          <p:nvPr/>
        </p:nvSpPr>
        <p:spPr>
          <a:xfrm>
            <a:off x="1225970" y="7733273"/>
            <a:ext cx="15836059" cy="773888"/>
          </a:xfrm>
          <a:prstGeom prst="rect">
            <a:avLst/>
          </a:prstGeom>
        </p:spPr>
        <p:txBody>
          <a:bodyPr lIns="0" tIns="0" rIns="0" bIns="0" rtlCol="0" anchor="t">
            <a:spAutoFit/>
          </a:bodyPr>
          <a:lstStyle/>
          <a:p>
            <a:pPr algn="just">
              <a:lnSpc>
                <a:spcPts val="3019"/>
              </a:lnSpc>
            </a:pPr>
            <a:r>
              <a:rPr lang="en-US" sz="2156">
                <a:solidFill>
                  <a:srgbClr val="D14725"/>
                </a:solidFill>
                <a:latin typeface="AC Soft Icecream"/>
                <a:ea typeface="AC Soft Icecream"/>
                <a:cs typeface="AC Soft Icecream"/>
                <a:sym typeface="AC Soft Icecream"/>
              </a:rPr>
              <a:t>Σημείωση: </a:t>
            </a:r>
            <a:r>
              <a:rPr lang="en-US" sz="2156">
                <a:solidFill>
                  <a:srgbClr val="010A50"/>
                </a:solidFill>
                <a:latin typeface="AC Soft Icecream"/>
                <a:ea typeface="AC Soft Icecream"/>
                <a:cs typeface="AC Soft Icecream"/>
                <a:sym typeface="AC Soft Icecream"/>
              </a:rPr>
              <a:t>Η επιλογή της γλώσσας με την οποία θα «προπονηθεί» η VRM δεν παίζει κάποιο ρόλο, αφού η λειτουργία της πλακέτας βασίζεται </a:t>
            </a:r>
            <a:r>
              <a:rPr lang="en-US" sz="2156">
                <a:solidFill>
                  <a:srgbClr val="2A5D5E"/>
                </a:solidFill>
                <a:latin typeface="AC Soft Icecream"/>
                <a:ea typeface="AC Soft Icecream"/>
                <a:cs typeface="AC Soft Icecream"/>
                <a:sym typeface="AC Soft Icecream"/>
              </a:rPr>
              <a:t>εξ’ ολοκλήρου στον ήχο </a:t>
            </a:r>
            <a:r>
              <a:rPr lang="en-US" sz="2156">
                <a:solidFill>
                  <a:srgbClr val="010A50"/>
                </a:solidFill>
                <a:latin typeface="AC Soft Icecream"/>
                <a:ea typeface="AC Soft Icecream"/>
                <a:cs typeface="AC Soft Icecream"/>
                <a:sym typeface="AC Soft Icecream"/>
              </a:rPr>
              <a:t>και </a:t>
            </a:r>
            <a:r>
              <a:rPr lang="en-US" sz="2156">
                <a:solidFill>
                  <a:srgbClr val="2A5D5E"/>
                </a:solidFill>
                <a:latin typeface="AC Soft Icecream"/>
                <a:ea typeface="AC Soft Icecream"/>
                <a:cs typeface="AC Soft Icecream"/>
                <a:sym typeface="AC Soft Icecream"/>
              </a:rPr>
              <a:t>όχι σε κάποια συγκεκριμένη γλώσσα</a:t>
            </a:r>
            <a:r>
              <a:rPr lang="en-US" sz="2156">
                <a:solidFill>
                  <a:srgbClr val="010A50"/>
                </a:solidFill>
                <a:latin typeface="AC Soft Icecream"/>
                <a:ea typeface="AC Soft Icecream"/>
                <a:cs typeface="AC Soft Icecream"/>
                <a:sym typeface="AC Soft Icecream"/>
              </a:rPr>
              <a:t>.</a:t>
            </a:r>
          </a:p>
        </p:txBody>
      </p:sp>
      <p:sp>
        <p:nvSpPr>
          <p:cNvPr id="7" name="Freeform 7"/>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Freeform 8"/>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7949210" y="6456279"/>
            <a:ext cx="10060207" cy="2225821"/>
          </a:xfrm>
          <a:custGeom>
            <a:avLst/>
            <a:gdLst/>
            <a:ahLst/>
            <a:cxnLst/>
            <a:rect l="l" t="t" r="r" b="b"/>
            <a:pathLst>
              <a:path w="10060207" h="2225821">
                <a:moveTo>
                  <a:pt x="0" y="0"/>
                </a:moveTo>
                <a:lnTo>
                  <a:pt x="10060206" y="0"/>
                </a:lnTo>
                <a:lnTo>
                  <a:pt x="10060206" y="2225821"/>
                </a:lnTo>
                <a:lnTo>
                  <a:pt x="0" y="2225821"/>
                </a:lnTo>
                <a:lnTo>
                  <a:pt x="0" y="0"/>
                </a:lnTo>
                <a:close/>
              </a:path>
            </a:pathLst>
          </a:custGeom>
          <a:blipFill>
            <a:blip r:embed="rId6"/>
            <a:stretch>
              <a:fillRect/>
            </a:stretch>
          </a:blipFill>
        </p:spPr>
      </p:sp>
      <p:sp>
        <p:nvSpPr>
          <p:cNvPr id="5" name="Freeform 5"/>
          <p:cNvSpPr/>
          <p:nvPr/>
        </p:nvSpPr>
        <p:spPr>
          <a:xfrm>
            <a:off x="0" y="6456279"/>
            <a:ext cx="7044486" cy="2225821"/>
          </a:xfrm>
          <a:custGeom>
            <a:avLst/>
            <a:gdLst/>
            <a:ahLst/>
            <a:cxnLst/>
            <a:rect l="l" t="t" r="r" b="b"/>
            <a:pathLst>
              <a:path w="7044486" h="2225821">
                <a:moveTo>
                  <a:pt x="0" y="0"/>
                </a:moveTo>
                <a:lnTo>
                  <a:pt x="7044486" y="0"/>
                </a:lnTo>
                <a:lnTo>
                  <a:pt x="7044486" y="2225821"/>
                </a:lnTo>
                <a:lnTo>
                  <a:pt x="0" y="2225821"/>
                </a:lnTo>
                <a:lnTo>
                  <a:pt x="0" y="0"/>
                </a:lnTo>
                <a:close/>
              </a:path>
            </a:pathLst>
          </a:custGeom>
          <a:blipFill>
            <a:blip r:embed="rId7"/>
            <a:stretch>
              <a:fillRect/>
            </a:stretch>
          </a:blipFill>
        </p:spPr>
      </p:sp>
      <p:sp>
        <p:nvSpPr>
          <p:cNvPr id="6" name="TextBox 6"/>
          <p:cNvSpPr txBox="1"/>
          <p:nvPr/>
        </p:nvSpPr>
        <p:spPr>
          <a:xfrm>
            <a:off x="3948863" y="190500"/>
            <a:ext cx="9753600" cy="716799"/>
          </a:xfrm>
          <a:prstGeom prst="rect">
            <a:avLst/>
          </a:prstGeom>
        </p:spPr>
        <p:txBody>
          <a:bodyPr wrap="square" lIns="0" tIns="0" rIns="0" bIns="0" rtlCol="0" anchor="t">
            <a:spAutoFit/>
          </a:bodyPr>
          <a:lstStyle/>
          <a:p>
            <a:pPr algn="ctr">
              <a:lnSpc>
                <a:spcPts val="5768"/>
              </a:lnSpc>
            </a:pPr>
            <a:r>
              <a:rPr lang="en-US" sz="4800" b="1" dirty="0">
                <a:solidFill>
                  <a:srgbClr val="010A50"/>
                </a:solidFill>
                <a:latin typeface="Noto Sans Bold"/>
                <a:ea typeface="Noto Sans Bold"/>
                <a:cs typeface="Noto Sans Bold"/>
                <a:sym typeface="Noto Sans Bold"/>
              </a:rPr>
              <a:t>Voice Recognition Module</a:t>
            </a:r>
          </a:p>
        </p:txBody>
      </p:sp>
      <p:sp>
        <p:nvSpPr>
          <p:cNvPr id="7" name="TextBox 7"/>
          <p:cNvSpPr txBox="1"/>
          <p:nvPr/>
        </p:nvSpPr>
        <p:spPr>
          <a:xfrm>
            <a:off x="7606463" y="1281827"/>
            <a:ext cx="2438400" cy="494171"/>
          </a:xfrm>
          <a:prstGeom prst="rect">
            <a:avLst/>
          </a:prstGeom>
        </p:spPr>
        <p:txBody>
          <a:bodyPr wrap="square" lIns="0" tIns="0" rIns="0" bIns="0" rtlCol="0" anchor="t">
            <a:spAutoFit/>
          </a:bodyPr>
          <a:lstStyle/>
          <a:p>
            <a:pPr algn="ctr">
              <a:lnSpc>
                <a:spcPts val="4100"/>
              </a:lnSpc>
            </a:pPr>
            <a:r>
              <a:rPr lang="en-US" sz="2928" b="1" dirty="0">
                <a:solidFill>
                  <a:srgbClr val="010A50"/>
                </a:solidFill>
                <a:latin typeface="DejaVu Serif Bold"/>
                <a:ea typeface="DejaVu Serif Bold"/>
                <a:cs typeface="DejaVu Serif Bold"/>
                <a:sym typeface="DejaVu Serif Bold"/>
              </a:rPr>
              <a:t>TRAINING</a:t>
            </a:r>
          </a:p>
        </p:txBody>
      </p:sp>
      <p:sp>
        <p:nvSpPr>
          <p:cNvPr id="8" name="TextBox 8"/>
          <p:cNvSpPr txBox="1"/>
          <p:nvPr/>
        </p:nvSpPr>
        <p:spPr>
          <a:xfrm>
            <a:off x="1225970" y="2357491"/>
            <a:ext cx="15836059" cy="3440888"/>
          </a:xfrm>
          <a:prstGeom prst="rect">
            <a:avLst/>
          </a:prstGeom>
        </p:spPr>
        <p:txBody>
          <a:bodyPr lIns="0" tIns="0" rIns="0" bIns="0" rtlCol="0" anchor="t">
            <a:spAutoFit/>
          </a:bodyPr>
          <a:lstStyle/>
          <a:p>
            <a:pPr algn="just">
              <a:lnSpc>
                <a:spcPts val="3019"/>
              </a:lnSpc>
            </a:pPr>
            <a:r>
              <a:rPr lang="en-US" sz="2156" dirty="0" err="1">
                <a:solidFill>
                  <a:srgbClr val="010A50"/>
                </a:solidFill>
                <a:latin typeface="AC Soft Icecream"/>
                <a:ea typeface="AC Soft Icecream"/>
                <a:cs typeface="AC Soft Icecream"/>
                <a:sym typeface="AC Soft Icecream"/>
              </a:rPr>
              <a:t>Γι</a:t>
            </a:r>
            <a:r>
              <a:rPr lang="en-US" sz="2156" dirty="0">
                <a:solidFill>
                  <a:srgbClr val="010A50"/>
                </a:solidFill>
                <a:latin typeface="AC Soft Icecream"/>
                <a:ea typeface="AC Soft Icecream"/>
                <a:cs typeface="AC Soft Icecream"/>
                <a:sym typeface="AC Soft Icecream"/>
              </a:rPr>
              <a:t>α την προπόνηση της VRM χρειάζονται να γίνουν τα ακόλουθα βήματα:</a:t>
            </a:r>
          </a:p>
          <a:p>
            <a:pPr marL="465690" lvl="1" indent="-232845" algn="just">
              <a:lnSpc>
                <a:spcPts val="3019"/>
              </a:lnSpc>
              <a:buFont typeface="Arial"/>
              <a:buChar char="•"/>
            </a:pPr>
            <a:r>
              <a:rPr lang="en-US" sz="2156" dirty="0" err="1">
                <a:solidFill>
                  <a:srgbClr val="010A50"/>
                </a:solidFill>
                <a:latin typeface="AC Soft Icecream"/>
                <a:ea typeface="AC Soft Icecream"/>
                <a:cs typeface="AC Soft Icecream"/>
                <a:sym typeface="AC Soft Icecream"/>
              </a:rPr>
              <a:t>Συνδέουμε</a:t>
            </a:r>
            <a:r>
              <a:rPr lang="en-US" sz="2156" dirty="0">
                <a:solidFill>
                  <a:srgbClr val="010A50"/>
                </a:solidFill>
                <a:latin typeface="AC Soft Icecream"/>
                <a:ea typeface="AC Soft Icecream"/>
                <a:cs typeface="AC Soft Icecream"/>
                <a:sym typeface="AC Soft Icecream"/>
              </a:rPr>
              <a:t> κα</a:t>
            </a:r>
            <a:r>
              <a:rPr lang="en-US" sz="2156" dirty="0" err="1">
                <a:solidFill>
                  <a:srgbClr val="010A50"/>
                </a:solidFill>
                <a:latin typeface="AC Soft Icecream"/>
                <a:ea typeface="AC Soft Icecream"/>
                <a:cs typeface="AC Soft Icecream"/>
                <a:sym typeface="AC Soft Icecream"/>
              </a:rPr>
              <a:t>τάλληλ</a:t>
            </a:r>
            <a:r>
              <a:rPr lang="en-US" sz="2156" dirty="0">
                <a:solidFill>
                  <a:srgbClr val="010A50"/>
                </a:solidFill>
                <a:latin typeface="AC Soft Icecream"/>
                <a:ea typeface="AC Soft Icecream"/>
                <a:cs typeface="AC Soft Icecream"/>
                <a:sym typeface="AC Soft Icecream"/>
              </a:rPr>
              <a:t>α την VRM V3 με τον μικροελεγκτή μας</a:t>
            </a:r>
          </a:p>
          <a:p>
            <a:pPr marL="465690" lvl="1" indent="-232845" algn="just">
              <a:lnSpc>
                <a:spcPts val="3019"/>
              </a:lnSpc>
              <a:buFont typeface="Arial"/>
              <a:buChar char="•"/>
            </a:pPr>
            <a:r>
              <a:rPr lang="en-US" sz="2156" dirty="0" err="1">
                <a:solidFill>
                  <a:srgbClr val="010A50"/>
                </a:solidFill>
                <a:latin typeface="AC Soft Icecream"/>
                <a:ea typeface="AC Soft Icecream"/>
                <a:cs typeface="AC Soft Icecream"/>
                <a:sym typeface="AC Soft Icecream"/>
              </a:rPr>
              <a:t>Λήψη</a:t>
            </a:r>
            <a:r>
              <a:rPr lang="en-US" sz="2156" dirty="0">
                <a:solidFill>
                  <a:srgbClr val="010A50"/>
                </a:solidFill>
                <a:latin typeface="AC Soft Icecream"/>
                <a:ea typeface="AC Soft Icecream"/>
                <a:cs typeface="AC Soft Icecream"/>
                <a:sym typeface="AC Soft Icecream"/>
              </a:rPr>
              <a:t> βιβ</a:t>
            </a:r>
            <a:r>
              <a:rPr lang="en-US" sz="2156" dirty="0" err="1">
                <a:solidFill>
                  <a:srgbClr val="010A50"/>
                </a:solidFill>
                <a:latin typeface="AC Soft Icecream"/>
                <a:ea typeface="AC Soft Icecream"/>
                <a:cs typeface="AC Soft Icecream"/>
                <a:sym typeface="AC Soft Icecream"/>
              </a:rPr>
              <a:t>λιοθήκης</a:t>
            </a:r>
            <a:r>
              <a:rPr lang="en-US" sz="2156" dirty="0">
                <a:solidFill>
                  <a:srgbClr val="010A50"/>
                </a:solidFill>
                <a:latin typeface="AC Soft Icecream"/>
                <a:ea typeface="AC Soft Icecream"/>
                <a:cs typeface="AC Soft Icecream"/>
                <a:sym typeface="AC Soft Icecream"/>
              </a:rPr>
              <a:t> VoiceRecognitionV3.</a:t>
            </a:r>
          </a:p>
          <a:p>
            <a:pPr marL="465690" lvl="1" indent="-232845" algn="just">
              <a:lnSpc>
                <a:spcPts val="3019"/>
              </a:lnSpc>
              <a:buFont typeface="Arial"/>
              <a:buChar char="•"/>
            </a:pPr>
            <a:r>
              <a:rPr lang="en-US" sz="2156" dirty="0" err="1">
                <a:solidFill>
                  <a:srgbClr val="010A50"/>
                </a:solidFill>
                <a:latin typeface="AC Soft Icecream"/>
                <a:ea typeface="AC Soft Icecream"/>
                <a:cs typeface="AC Soft Icecream"/>
                <a:sym typeface="AC Soft Icecream"/>
              </a:rPr>
              <a:t>Αφού</a:t>
            </a:r>
            <a:r>
              <a:rPr lang="en-US" sz="2156" dirty="0">
                <a:solidFill>
                  <a:srgbClr val="010A50"/>
                </a:solidFill>
                <a:latin typeface="AC Soft Icecream"/>
                <a:ea typeface="AC Soft Icecream"/>
                <a:cs typeface="AC Soft Icecream"/>
                <a:sym typeface="AC Soft Icecream"/>
              </a:rPr>
              <a:t> α</a:t>
            </a:r>
            <a:r>
              <a:rPr lang="en-US" sz="2156" dirty="0" err="1">
                <a:solidFill>
                  <a:srgbClr val="010A50"/>
                </a:solidFill>
                <a:latin typeface="AC Soft Icecream"/>
                <a:ea typeface="AC Soft Icecream"/>
                <a:cs typeface="AC Soft Icecream"/>
                <a:sym typeface="AC Soft Icecream"/>
              </a:rPr>
              <a:t>νοίξουμε</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το</a:t>
            </a:r>
            <a:r>
              <a:rPr lang="en-US" sz="2156" dirty="0">
                <a:solidFill>
                  <a:srgbClr val="010A50"/>
                </a:solidFill>
                <a:latin typeface="AC Soft Icecream"/>
                <a:ea typeface="AC Soft Icecream"/>
                <a:cs typeface="AC Soft Icecream"/>
                <a:sym typeface="AC Soft Icecream"/>
              </a:rPr>
              <a:t> Arduino IDE -&gt; </a:t>
            </a:r>
            <a:r>
              <a:rPr lang="en-US" sz="2156" dirty="0" err="1">
                <a:solidFill>
                  <a:srgbClr val="010A50"/>
                </a:solidFill>
                <a:latin typeface="AC Soft Icecream"/>
                <a:ea typeface="AC Soft Icecream"/>
                <a:cs typeface="AC Soft Icecream"/>
                <a:sym typeface="AC Soft Icecream"/>
              </a:rPr>
              <a:t>vr_sample_train</a:t>
            </a:r>
            <a:r>
              <a:rPr lang="en-US" sz="2156" dirty="0">
                <a:solidFill>
                  <a:srgbClr val="010A50"/>
                </a:solidFill>
                <a:latin typeface="AC Soft Icecream"/>
                <a:ea typeface="AC Soft Icecream"/>
                <a:cs typeface="AC Soft Icecream"/>
                <a:sym typeface="AC Soft Icecream"/>
              </a:rPr>
              <a:t> (File -&gt; Examples -&gt; &gt; VoiceRecognitionV3 -&gt; </a:t>
            </a:r>
            <a:r>
              <a:rPr lang="en-US" sz="2156" dirty="0" err="1">
                <a:solidFill>
                  <a:srgbClr val="010A50"/>
                </a:solidFill>
                <a:latin typeface="AC Soft Icecream"/>
                <a:ea typeface="AC Soft Icecream"/>
                <a:cs typeface="AC Soft Icecream"/>
                <a:sym typeface="AC Soft Icecream"/>
              </a:rPr>
              <a:t>vr_sample_train</a:t>
            </a:r>
            <a:r>
              <a:rPr lang="en-US" sz="2156" dirty="0">
                <a:solidFill>
                  <a:srgbClr val="010A50"/>
                </a:solidFill>
                <a:latin typeface="AC Soft Icecream"/>
                <a:ea typeface="AC Soft Icecream"/>
                <a:cs typeface="AC Soft Icecream"/>
                <a:sym typeface="AC Soft Icecream"/>
              </a:rPr>
              <a:t>).</a:t>
            </a:r>
          </a:p>
          <a:p>
            <a:pPr marL="465690" lvl="1" indent="-232845" algn="just">
              <a:lnSpc>
                <a:spcPts val="3019"/>
              </a:lnSpc>
              <a:buFont typeface="Arial"/>
              <a:buChar char="•"/>
            </a:pPr>
            <a:r>
              <a:rPr lang="en-US" sz="2156" dirty="0">
                <a:solidFill>
                  <a:srgbClr val="010A50"/>
                </a:solidFill>
                <a:latin typeface="AC Soft Icecream"/>
                <a:ea typeface="AC Soft Icecream"/>
                <a:cs typeface="AC Soft Icecream"/>
                <a:sym typeface="AC Soft Icecream"/>
              </a:rPr>
              <a:t>Πα</a:t>
            </a:r>
            <a:r>
              <a:rPr lang="en-US" sz="2156" dirty="0" err="1">
                <a:solidFill>
                  <a:srgbClr val="010A50"/>
                </a:solidFill>
                <a:latin typeface="AC Soft Icecream"/>
                <a:ea typeface="AC Soft Icecream"/>
                <a:cs typeface="AC Soft Icecream"/>
                <a:sym typeface="AC Soft Icecream"/>
              </a:rPr>
              <a:t>τάμε</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το</a:t>
            </a:r>
            <a:r>
              <a:rPr lang="en-US" sz="2156" dirty="0">
                <a:solidFill>
                  <a:srgbClr val="010A50"/>
                </a:solidFill>
                <a:latin typeface="AC Soft Icecream"/>
                <a:ea typeface="AC Soft Icecream"/>
                <a:cs typeface="AC Soft Icecream"/>
                <a:sym typeface="AC Soft Icecream"/>
              </a:rPr>
              <a:t> Upload.</a:t>
            </a:r>
          </a:p>
          <a:p>
            <a:pPr marL="465690" lvl="1" indent="-232845" algn="just">
              <a:lnSpc>
                <a:spcPts val="3019"/>
              </a:lnSpc>
              <a:buFont typeface="Arial"/>
              <a:buChar char="•"/>
            </a:pPr>
            <a:r>
              <a:rPr lang="en-US" sz="2156" dirty="0" err="1">
                <a:solidFill>
                  <a:srgbClr val="010A50"/>
                </a:solidFill>
                <a:latin typeface="AC Soft Icecream"/>
                <a:ea typeface="AC Soft Icecream"/>
                <a:cs typeface="AC Soft Icecream"/>
                <a:sym typeface="AC Soft Icecream"/>
              </a:rPr>
              <a:t>Αφού</a:t>
            </a:r>
            <a:r>
              <a:rPr lang="en-US" sz="2156" dirty="0">
                <a:solidFill>
                  <a:srgbClr val="010A50"/>
                </a:solidFill>
                <a:latin typeface="AC Soft Icecream"/>
                <a:ea typeface="AC Soft Icecream"/>
                <a:cs typeface="AC Soft Icecream"/>
                <a:sym typeface="AC Soft Icecream"/>
              </a:rPr>
              <a:t> α</a:t>
            </a:r>
            <a:r>
              <a:rPr lang="en-US" sz="2156" dirty="0" err="1">
                <a:solidFill>
                  <a:srgbClr val="010A50"/>
                </a:solidFill>
                <a:latin typeface="AC Soft Icecream"/>
                <a:ea typeface="AC Soft Icecream"/>
                <a:cs typeface="AC Soft Icecream"/>
                <a:sym typeface="AC Soft Icecream"/>
              </a:rPr>
              <a:t>νέ</a:t>
            </a:r>
            <a:r>
              <a:rPr lang="en-US" sz="2156" dirty="0">
                <a:solidFill>
                  <a:srgbClr val="010A50"/>
                </a:solidFill>
                <a:latin typeface="AC Soft Icecream"/>
                <a:ea typeface="AC Soft Icecream"/>
                <a:cs typeface="AC Soft Icecream"/>
                <a:sym typeface="AC Soft Icecream"/>
              </a:rPr>
              <a:t>βει στην πλακέτα μας, ανοίγουμε το Serial Monitor και ορίζουμε το baud rate στα 115200bps.</a:t>
            </a:r>
          </a:p>
          <a:p>
            <a:pPr algn="just">
              <a:lnSpc>
                <a:spcPts val="3019"/>
              </a:lnSpc>
            </a:pPr>
            <a:r>
              <a:rPr lang="en-US" sz="2156" dirty="0" err="1">
                <a:solidFill>
                  <a:srgbClr val="010A50"/>
                </a:solidFill>
                <a:latin typeface="AC Soft Icecream"/>
                <a:ea typeface="AC Soft Icecream"/>
                <a:cs typeface="AC Soft Icecream"/>
                <a:sym typeface="AC Soft Icecream"/>
              </a:rPr>
              <a:t>Με</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την</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ολοκλήρωση</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των</a:t>
            </a:r>
            <a:r>
              <a:rPr lang="en-US" sz="2156" dirty="0">
                <a:solidFill>
                  <a:srgbClr val="010A50"/>
                </a:solidFill>
                <a:latin typeface="AC Soft Icecream"/>
                <a:ea typeface="AC Soft Icecream"/>
                <a:cs typeface="AC Soft Icecream"/>
                <a:sym typeface="AC Soft Icecream"/>
              </a:rPr>
              <a:t> παραπ</a:t>
            </a:r>
            <a:r>
              <a:rPr lang="en-US" sz="2156" dirty="0" err="1">
                <a:solidFill>
                  <a:srgbClr val="010A50"/>
                </a:solidFill>
                <a:latin typeface="AC Soft Icecream"/>
                <a:ea typeface="AC Soft Icecream"/>
                <a:cs typeface="AC Soft Icecream"/>
                <a:sym typeface="AC Soft Icecream"/>
              </a:rPr>
              <a:t>άνω</a:t>
            </a:r>
            <a:r>
              <a:rPr lang="en-US" sz="2156" dirty="0">
                <a:solidFill>
                  <a:srgbClr val="010A50"/>
                </a:solidFill>
                <a:latin typeface="AC Soft Icecream"/>
                <a:ea typeface="AC Soft Icecream"/>
                <a:cs typeface="AC Soft Icecream"/>
                <a:sym typeface="AC Soft Icecream"/>
              </a:rPr>
              <a:t> β</a:t>
            </a:r>
            <a:r>
              <a:rPr lang="en-US" sz="2156" dirty="0" err="1">
                <a:solidFill>
                  <a:srgbClr val="010A50"/>
                </a:solidFill>
                <a:latin typeface="AC Soft Icecream"/>
                <a:ea typeface="AC Soft Icecream"/>
                <a:cs typeface="AC Soft Icecream"/>
                <a:sym typeface="AC Soft Icecream"/>
              </a:rPr>
              <a:t>ημάτων</a:t>
            </a:r>
            <a:r>
              <a:rPr lang="en-US" sz="2156" dirty="0">
                <a:solidFill>
                  <a:srgbClr val="010A50"/>
                </a:solidFill>
                <a:latin typeface="AC Soft Icecream"/>
                <a:ea typeface="AC Soft Icecream"/>
                <a:cs typeface="AC Soft Icecream"/>
                <a:sym typeface="AC Soft Icecream"/>
              </a:rPr>
              <a:t>, μας </a:t>
            </a:r>
            <a:r>
              <a:rPr lang="en-US" sz="2156" dirty="0" err="1">
                <a:solidFill>
                  <a:srgbClr val="010A50"/>
                </a:solidFill>
                <a:latin typeface="AC Soft Icecream"/>
                <a:ea typeface="AC Soft Icecream"/>
                <a:cs typeface="AC Soft Icecream"/>
                <a:sym typeface="AC Soft Icecream"/>
              </a:rPr>
              <a:t>εμφ</a:t>
            </a:r>
            <a:r>
              <a:rPr lang="en-US" sz="2156" dirty="0">
                <a:solidFill>
                  <a:srgbClr val="010A50"/>
                </a:solidFill>
                <a:latin typeface="AC Soft Icecream"/>
                <a:ea typeface="AC Soft Icecream"/>
                <a:cs typeface="AC Soft Icecream"/>
                <a:sym typeface="AC Soft Icecream"/>
              </a:rPr>
              <a:t>ανίζεται μέσω του COM port που έχουμε συνδέσει τον μικροελεγκτή μας ένα παράθυρο μέσα από το οποίο μπορούμε να κάνουμε την προπόνηση. Η </a:t>
            </a:r>
            <a:r>
              <a:rPr lang="en-US" sz="2156" dirty="0" err="1">
                <a:solidFill>
                  <a:srgbClr val="010A50"/>
                </a:solidFill>
                <a:latin typeface="AC Soft Icecream"/>
                <a:ea typeface="AC Soft Icecream"/>
                <a:cs typeface="AC Soft Icecream"/>
                <a:sym typeface="AC Soft Icecream"/>
              </a:rPr>
              <a:t>δι</a:t>
            </a:r>
            <a:r>
              <a:rPr lang="en-US" sz="2156" dirty="0">
                <a:solidFill>
                  <a:srgbClr val="010A50"/>
                </a:solidFill>
                <a:latin typeface="AC Soft Icecream"/>
                <a:ea typeface="AC Soft Icecream"/>
                <a:cs typeface="AC Soft Icecream"/>
                <a:sym typeface="AC Soft Icecream"/>
              </a:rPr>
              <a:t>αδικασία ξεκινάει αρχικά πληκτρολογώντας μια από τις εντολές που φαίνονται παρακάτω.</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442352" y="114173"/>
            <a:ext cx="7435447" cy="694229"/>
          </a:xfrm>
          <a:prstGeom prst="rect">
            <a:avLst/>
          </a:prstGeom>
        </p:spPr>
        <p:txBody>
          <a:bodyPr wrap="square" lIns="0" tIns="0" rIns="0" bIns="0" rtlCol="0" anchor="t">
            <a:spAutoFit/>
          </a:bodyPr>
          <a:lstStyle/>
          <a:p>
            <a:pPr algn="ctr">
              <a:lnSpc>
                <a:spcPts val="5768"/>
              </a:lnSpc>
            </a:pPr>
            <a:r>
              <a:rPr lang="en-US" sz="4120" b="1" dirty="0">
                <a:solidFill>
                  <a:srgbClr val="010A50"/>
                </a:solidFill>
                <a:latin typeface="Noto Sans Bold"/>
                <a:ea typeface="Noto Sans Bold"/>
                <a:cs typeface="Noto Sans Bold"/>
                <a:sym typeface="Noto Sans Bold"/>
              </a:rPr>
              <a:t>Voice Recognition Module</a:t>
            </a:r>
          </a:p>
        </p:txBody>
      </p:sp>
      <p:sp>
        <p:nvSpPr>
          <p:cNvPr id="3" name="TextBox 3"/>
          <p:cNvSpPr txBox="1"/>
          <p:nvPr/>
        </p:nvSpPr>
        <p:spPr>
          <a:xfrm>
            <a:off x="7162800" y="1304313"/>
            <a:ext cx="2743200" cy="472117"/>
          </a:xfrm>
          <a:prstGeom prst="rect">
            <a:avLst/>
          </a:prstGeom>
        </p:spPr>
        <p:txBody>
          <a:bodyPr wrap="square" lIns="0" tIns="0" rIns="0" bIns="0" rtlCol="0" anchor="t">
            <a:spAutoFit/>
          </a:bodyPr>
          <a:lstStyle/>
          <a:p>
            <a:pPr algn="ctr">
              <a:lnSpc>
                <a:spcPts val="3960"/>
              </a:lnSpc>
            </a:pPr>
            <a:r>
              <a:rPr lang="en-US" sz="2828" b="1" dirty="0">
                <a:solidFill>
                  <a:srgbClr val="010A50"/>
                </a:solidFill>
                <a:latin typeface="DejaVu Serif Bold"/>
                <a:ea typeface="DejaVu Serif Bold"/>
                <a:cs typeface="DejaVu Serif Bold"/>
                <a:sym typeface="DejaVu Serif Bold"/>
              </a:rPr>
              <a:t>TRAINING</a:t>
            </a:r>
          </a:p>
        </p:txBody>
      </p:sp>
      <p:sp>
        <p:nvSpPr>
          <p:cNvPr id="4" name="Freeform 4"/>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1222657" y="2202973"/>
            <a:ext cx="15836059" cy="1916888"/>
          </a:xfrm>
          <a:prstGeom prst="rect">
            <a:avLst/>
          </a:prstGeom>
        </p:spPr>
        <p:txBody>
          <a:bodyPr lIns="0" tIns="0" rIns="0" bIns="0" rtlCol="0" anchor="t">
            <a:spAutoFit/>
          </a:bodyPr>
          <a:lstStyle/>
          <a:p>
            <a:pPr algn="just">
              <a:lnSpc>
                <a:spcPts val="3019"/>
              </a:lnSpc>
            </a:pPr>
            <a:r>
              <a:rPr lang="en-US" sz="2156" dirty="0" err="1">
                <a:solidFill>
                  <a:srgbClr val="010A50"/>
                </a:solidFill>
                <a:latin typeface="AC Soft Icecream"/>
                <a:ea typeface="AC Soft Icecream"/>
                <a:cs typeface="AC Soft Icecream"/>
                <a:sym typeface="AC Soft Icecream"/>
              </a:rPr>
              <a:t>Με</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την</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εντολή</a:t>
            </a:r>
            <a:r>
              <a:rPr lang="en-US" sz="2156" dirty="0">
                <a:solidFill>
                  <a:srgbClr val="010A50"/>
                </a:solidFill>
                <a:latin typeface="AC Soft Icecream"/>
                <a:ea typeface="AC Soft Icecream"/>
                <a:cs typeface="AC Soft Icecream"/>
                <a:sym typeface="AC Soft Icecream"/>
              </a:rPr>
              <a:t> </a:t>
            </a:r>
            <a:r>
              <a:rPr lang="en-US" sz="2156" dirty="0">
                <a:solidFill>
                  <a:srgbClr val="D14725"/>
                </a:solidFill>
                <a:latin typeface="AC Soft Icecream"/>
                <a:ea typeface="AC Soft Icecream"/>
                <a:cs typeface="AC Soft Icecream"/>
                <a:sym typeface="AC Soft Icecream"/>
              </a:rPr>
              <a:t>train (0)</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ξεκινάμε</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την</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δι</a:t>
            </a:r>
            <a:r>
              <a:rPr lang="en-US" sz="2156" dirty="0">
                <a:solidFill>
                  <a:srgbClr val="010A50"/>
                </a:solidFill>
                <a:latin typeface="AC Soft Icecream"/>
                <a:ea typeface="AC Soft Icecream"/>
                <a:cs typeface="AC Soft Icecream"/>
                <a:sym typeface="AC Soft Icecream"/>
              </a:rPr>
              <a:t>αδικασία προπόνησης της εντολής με id 0 κ.ο.κ. </a:t>
            </a:r>
            <a:r>
              <a:rPr lang="en-US" sz="2156" dirty="0" err="1">
                <a:solidFill>
                  <a:srgbClr val="010A50"/>
                </a:solidFill>
                <a:latin typeface="AC Soft Icecream"/>
                <a:ea typeface="AC Soft Icecream"/>
                <a:cs typeface="AC Soft Icecream"/>
                <a:sym typeface="AC Soft Icecream"/>
              </a:rPr>
              <a:t>Ότ</a:t>
            </a:r>
            <a:r>
              <a:rPr lang="en-US" sz="2156" dirty="0">
                <a:solidFill>
                  <a:srgbClr val="010A50"/>
                </a:solidFill>
                <a:latin typeface="AC Soft Icecream"/>
                <a:ea typeface="AC Soft Icecream"/>
                <a:cs typeface="AC Soft Icecream"/>
                <a:sym typeface="AC Soft Icecream"/>
              </a:rPr>
              <a:t>αν πατήσουμε Enter θα μας εμφανιστεί ένα μήνυμα στο παράθυρο που θα μας λέει «Speak now» και το ledάκι της VRM V3 θα αλλάζει χρώμα. </a:t>
            </a:r>
            <a:r>
              <a:rPr lang="en-US" sz="2156" dirty="0" err="1">
                <a:solidFill>
                  <a:srgbClr val="010A50"/>
                </a:solidFill>
                <a:latin typeface="AC Soft Icecream"/>
                <a:ea typeface="AC Soft Icecream"/>
                <a:cs typeface="AC Soft Icecream"/>
                <a:sym typeface="AC Soft Icecream"/>
              </a:rPr>
              <a:t>Αυτό</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σημ</a:t>
            </a:r>
            <a:r>
              <a:rPr lang="en-US" sz="2156" dirty="0">
                <a:solidFill>
                  <a:srgbClr val="010A50"/>
                </a:solidFill>
                <a:latin typeface="AC Soft Icecream"/>
                <a:ea typeface="AC Soft Icecream"/>
                <a:cs typeface="AC Soft Icecream"/>
                <a:sym typeface="AC Soft Icecream"/>
              </a:rPr>
              <a:t>αίνει ότι εκείνη την στιγμή  θα πρέπει να πούμε την εντολή που θέλουμε. </a:t>
            </a:r>
            <a:r>
              <a:rPr lang="en-US" sz="2156" dirty="0" err="1">
                <a:solidFill>
                  <a:srgbClr val="010A50"/>
                </a:solidFill>
                <a:latin typeface="AC Soft Icecream"/>
                <a:ea typeface="AC Soft Icecream"/>
                <a:cs typeface="AC Soft Icecream"/>
                <a:sym typeface="AC Soft Icecream"/>
              </a:rPr>
              <a:t>Αφού</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την</a:t>
            </a:r>
            <a:r>
              <a:rPr lang="en-US" sz="2156" dirty="0">
                <a:solidFill>
                  <a:srgbClr val="010A50"/>
                </a:solidFill>
                <a:latin typeface="AC Soft Icecream"/>
                <a:ea typeface="AC Soft Icecream"/>
                <a:cs typeface="AC Soft Icecream"/>
                <a:sym typeface="AC Soft Icecream"/>
              </a:rPr>
              <a:t> ξαναπ</a:t>
            </a:r>
            <a:r>
              <a:rPr lang="en-US" sz="2156" dirty="0" err="1">
                <a:solidFill>
                  <a:srgbClr val="010A50"/>
                </a:solidFill>
                <a:latin typeface="AC Soft Icecream"/>
                <a:ea typeface="AC Soft Icecream"/>
                <a:cs typeface="AC Soft Icecream"/>
                <a:sym typeface="AC Soft Icecream"/>
              </a:rPr>
              <a:t>ούμε</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άλλη</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μι</a:t>
            </a:r>
            <a:r>
              <a:rPr lang="en-US" sz="2156" dirty="0">
                <a:solidFill>
                  <a:srgbClr val="010A50"/>
                </a:solidFill>
                <a:latin typeface="AC Soft Icecream"/>
                <a:ea typeface="AC Soft Icecream"/>
                <a:cs typeface="AC Soft Icecream"/>
                <a:sym typeface="AC Soft Icecream"/>
              </a:rPr>
              <a:t>α φορά, τότε θα μας εμφανιστεί ένα μήνυμα το οποίο είτε θα μας δείχνει ότι η διαδικασία απέτυχε και θα πρέπει να την επαναλάβουμε είτε ότι στέφθηκε με επιτυχία.  </a:t>
            </a:r>
          </a:p>
          <a:p>
            <a:pPr algn="just">
              <a:lnSpc>
                <a:spcPts val="3019"/>
              </a:lnSpc>
            </a:pPr>
            <a:endParaRPr lang="en-US" sz="2156" dirty="0">
              <a:solidFill>
                <a:srgbClr val="010A50"/>
              </a:solidFill>
              <a:latin typeface="AC Soft Icecream"/>
              <a:ea typeface="AC Soft Icecream"/>
              <a:cs typeface="AC Soft Icecream"/>
              <a:sym typeface="AC Soft Icecream"/>
            </a:endParaRPr>
          </a:p>
        </p:txBody>
      </p:sp>
      <p:sp>
        <p:nvSpPr>
          <p:cNvPr id="7" name="TextBox 7"/>
          <p:cNvSpPr txBox="1"/>
          <p:nvPr/>
        </p:nvSpPr>
        <p:spPr>
          <a:xfrm>
            <a:off x="1225970" y="4543690"/>
            <a:ext cx="15836059" cy="1916888"/>
          </a:xfrm>
          <a:prstGeom prst="rect">
            <a:avLst/>
          </a:prstGeom>
        </p:spPr>
        <p:txBody>
          <a:bodyPr lIns="0" tIns="0" rIns="0" bIns="0" rtlCol="0" anchor="t">
            <a:spAutoFit/>
          </a:bodyPr>
          <a:lstStyle/>
          <a:p>
            <a:pPr algn="just">
              <a:lnSpc>
                <a:spcPts val="3019"/>
              </a:lnSpc>
            </a:pPr>
            <a:r>
              <a:rPr lang="en-US" sz="2156">
                <a:solidFill>
                  <a:srgbClr val="010A50"/>
                </a:solidFill>
                <a:latin typeface="AC Soft Icecream"/>
                <a:ea typeface="AC Soft Icecream"/>
                <a:cs typeface="AC Soft Icecream"/>
                <a:sym typeface="AC Soft Icecream"/>
              </a:rPr>
              <a:t>Με την εντολή </a:t>
            </a:r>
            <a:r>
              <a:rPr lang="en-US" sz="2156">
                <a:solidFill>
                  <a:srgbClr val="D14725"/>
                </a:solidFill>
                <a:latin typeface="AC Soft Icecream"/>
                <a:ea typeface="AC Soft Icecream"/>
                <a:cs typeface="AC Soft Icecream"/>
                <a:sym typeface="AC Soft Icecream"/>
              </a:rPr>
              <a:t>load (0)</a:t>
            </a:r>
            <a:r>
              <a:rPr lang="en-US" sz="2156">
                <a:solidFill>
                  <a:srgbClr val="010A50"/>
                </a:solidFill>
                <a:latin typeface="AC Soft Icecream"/>
                <a:ea typeface="AC Soft Icecream"/>
                <a:cs typeface="AC Soft Icecream"/>
                <a:sym typeface="AC Soft Icecream"/>
              </a:rPr>
              <a:t> φορτώνουμε από την flash της VRM V3 την εντολή με id 0 έτσι ώστε να είναι έτοιμη για αναγνώριση. Ομοίως και για τις υπόλοιπες εντολές. Όταν πατήσουμε Enterτότε η VRMV3 θα περιμένει από εμάς να ακούσει την εντολή που έχουμε προπονήσει στο record με id 0 και αφού την ακούσει και την αναγνωρίσει θα μας επιστρέψει ένα αντίστοιχο μήνυμα επαλήθευσης στην οθόνη μας.</a:t>
            </a:r>
          </a:p>
          <a:p>
            <a:pPr algn="just">
              <a:lnSpc>
                <a:spcPts val="3019"/>
              </a:lnSpc>
            </a:pPr>
            <a:endParaRPr lang="en-US" sz="2156">
              <a:solidFill>
                <a:srgbClr val="010A50"/>
              </a:solidFill>
              <a:latin typeface="AC Soft Icecream"/>
              <a:ea typeface="AC Soft Icecream"/>
              <a:cs typeface="AC Soft Icecream"/>
              <a:sym typeface="AC Soft Icecream"/>
            </a:endParaRPr>
          </a:p>
        </p:txBody>
      </p:sp>
      <p:sp>
        <p:nvSpPr>
          <p:cNvPr id="8" name="TextBox 8"/>
          <p:cNvSpPr txBox="1"/>
          <p:nvPr/>
        </p:nvSpPr>
        <p:spPr>
          <a:xfrm>
            <a:off x="1225970" y="6698703"/>
            <a:ext cx="15836059" cy="1154888"/>
          </a:xfrm>
          <a:prstGeom prst="rect">
            <a:avLst/>
          </a:prstGeom>
        </p:spPr>
        <p:txBody>
          <a:bodyPr lIns="0" tIns="0" rIns="0" bIns="0" rtlCol="0" anchor="t">
            <a:spAutoFit/>
          </a:bodyPr>
          <a:lstStyle/>
          <a:p>
            <a:pPr algn="just">
              <a:lnSpc>
                <a:spcPts val="3019"/>
              </a:lnSpc>
            </a:pPr>
            <a:r>
              <a:rPr lang="en-US" sz="2156">
                <a:solidFill>
                  <a:srgbClr val="010A50"/>
                </a:solidFill>
                <a:latin typeface="AC Soft Icecream"/>
                <a:ea typeface="AC Soft Icecream"/>
                <a:cs typeface="AC Soft Icecream"/>
                <a:sym typeface="AC Soft Icecream"/>
              </a:rPr>
              <a:t>Με την εντολή </a:t>
            </a:r>
            <a:r>
              <a:rPr lang="en-US" sz="2156">
                <a:solidFill>
                  <a:srgbClr val="D14725"/>
                </a:solidFill>
                <a:latin typeface="AC Soft Icecream"/>
                <a:ea typeface="AC Soft Icecream"/>
                <a:cs typeface="AC Soft Icecream"/>
                <a:sym typeface="AC Soft Icecream"/>
              </a:rPr>
              <a:t>record</a:t>
            </a:r>
            <a:r>
              <a:rPr lang="en-US" sz="2156">
                <a:solidFill>
                  <a:srgbClr val="010A50"/>
                </a:solidFill>
                <a:latin typeface="AC Soft Icecream"/>
                <a:ea typeface="AC Soft Icecream"/>
                <a:cs typeface="AC Soft Icecream"/>
                <a:sym typeface="AC Soft Icecream"/>
              </a:rPr>
              <a:t> μπορούμε να δούμε όλες τις προπονημένες - και μη προπονημένες – εγγραφές στην flash της VRM V3.  Για παράδειγμα με την εντολή </a:t>
            </a:r>
            <a:r>
              <a:rPr lang="en-US" sz="2156">
                <a:solidFill>
                  <a:srgbClr val="2A5D5E"/>
                </a:solidFill>
                <a:latin typeface="AC Soft Icecream"/>
                <a:ea typeface="AC Soft Icecream"/>
                <a:cs typeface="AC Soft Icecream"/>
                <a:sym typeface="AC Soft Icecream"/>
              </a:rPr>
              <a:t>record 0</a:t>
            </a:r>
            <a:r>
              <a:rPr lang="en-US" sz="2156">
                <a:solidFill>
                  <a:srgbClr val="010A50"/>
                </a:solidFill>
                <a:latin typeface="AC Soft Icecream"/>
                <a:ea typeface="AC Soft Icecream"/>
                <a:cs typeface="AC Soft Icecream"/>
                <a:sym typeface="AC Soft Icecream"/>
              </a:rPr>
              <a:t> μπορούμε να δούμε την κατάσταση της εγγραφής με id 0. Με την εντολή </a:t>
            </a:r>
            <a:r>
              <a:rPr lang="en-US" sz="2156">
                <a:solidFill>
                  <a:srgbClr val="D14725"/>
                </a:solidFill>
                <a:latin typeface="AC Soft Icecream"/>
                <a:ea typeface="AC Soft Icecream"/>
                <a:cs typeface="AC Soft Icecream"/>
                <a:sym typeface="AC Soft Icecream"/>
              </a:rPr>
              <a:t>clear</a:t>
            </a:r>
            <a:r>
              <a:rPr lang="en-US" sz="2156">
                <a:solidFill>
                  <a:srgbClr val="010A50"/>
                </a:solidFill>
                <a:latin typeface="AC Soft Icecream"/>
                <a:ea typeface="AC Soft Icecream"/>
                <a:cs typeface="AC Soft Icecream"/>
                <a:sym typeface="AC Soft Icecream"/>
              </a:rPr>
              <a:t> μπορούμε να διαγράψουμε όλες τις εντολές από τον recognizer και να ξεκινήσουμε νέα προπόνηση από την αρχή.</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2415840" y="1668979"/>
            <a:ext cx="13456320" cy="6949043"/>
          </a:xfrm>
          <a:custGeom>
            <a:avLst/>
            <a:gdLst/>
            <a:ahLst/>
            <a:cxnLst/>
            <a:rect l="l" t="t" r="r" b="b"/>
            <a:pathLst>
              <a:path w="13456320" h="6949043">
                <a:moveTo>
                  <a:pt x="0" y="0"/>
                </a:moveTo>
                <a:lnTo>
                  <a:pt x="13456320" y="0"/>
                </a:lnTo>
                <a:lnTo>
                  <a:pt x="13456320" y="6949042"/>
                </a:lnTo>
                <a:lnTo>
                  <a:pt x="0" y="6949042"/>
                </a:lnTo>
                <a:lnTo>
                  <a:pt x="0" y="0"/>
                </a:lnTo>
                <a:close/>
              </a:path>
            </a:pathLst>
          </a:custGeom>
          <a:blipFill>
            <a:blip r:embed="rId6"/>
            <a:stretch>
              <a:fillRect/>
            </a:stretch>
          </a:blipFill>
        </p:spPr>
      </p:sp>
      <p:sp>
        <p:nvSpPr>
          <p:cNvPr id="5" name="TextBox 5"/>
          <p:cNvSpPr txBox="1"/>
          <p:nvPr/>
        </p:nvSpPr>
        <p:spPr>
          <a:xfrm>
            <a:off x="7423150" y="104648"/>
            <a:ext cx="3441700" cy="655446"/>
          </a:xfrm>
          <a:prstGeom prst="rect">
            <a:avLst/>
          </a:prstGeom>
        </p:spPr>
        <p:txBody>
          <a:bodyPr lIns="0" tIns="0" rIns="0" bIns="0" rtlCol="0" anchor="t">
            <a:spAutoFit/>
          </a:bodyPr>
          <a:lstStyle/>
          <a:p>
            <a:pPr algn="ctr">
              <a:lnSpc>
                <a:spcPts val="5348"/>
              </a:lnSpc>
            </a:pPr>
            <a:r>
              <a:rPr lang="en-US" sz="3820" b="1">
                <a:solidFill>
                  <a:srgbClr val="010A50"/>
                </a:solidFill>
                <a:latin typeface="Noto Sans Bold"/>
                <a:ea typeface="Noto Sans Bold"/>
                <a:cs typeface="Noto Sans Bold"/>
                <a:sym typeface="Noto Sans Bold"/>
              </a:rPr>
              <a:t>VIRSI TESTING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4229099" y="232819"/>
            <a:ext cx="9829800" cy="718145"/>
          </a:xfrm>
          <a:prstGeom prst="rect">
            <a:avLst/>
          </a:prstGeom>
        </p:spPr>
        <p:txBody>
          <a:bodyPr wrap="square" lIns="0" tIns="0" rIns="0" bIns="0" rtlCol="0" anchor="t">
            <a:spAutoFit/>
          </a:bodyPr>
          <a:lstStyle/>
          <a:p>
            <a:pPr algn="ctr">
              <a:lnSpc>
                <a:spcPts val="5628"/>
              </a:lnSpc>
            </a:pPr>
            <a:r>
              <a:rPr lang="en-US" sz="4800" b="1" dirty="0">
                <a:solidFill>
                  <a:srgbClr val="010A50"/>
                </a:solidFill>
                <a:latin typeface="Noto Sans Bold"/>
                <a:ea typeface="Noto Sans Bold"/>
                <a:cs typeface="Noto Sans Bold"/>
                <a:sym typeface="Noto Sans Bold"/>
              </a:rPr>
              <a:t>COMPRESSION &amp; I2S SOUND</a:t>
            </a:r>
          </a:p>
        </p:txBody>
      </p:sp>
      <p:sp>
        <p:nvSpPr>
          <p:cNvPr id="5" name="TextBox 5"/>
          <p:cNvSpPr txBox="1"/>
          <p:nvPr/>
        </p:nvSpPr>
        <p:spPr>
          <a:xfrm>
            <a:off x="7387134" y="1374239"/>
            <a:ext cx="3513733" cy="526317"/>
          </a:xfrm>
          <a:prstGeom prst="rect">
            <a:avLst/>
          </a:prstGeom>
        </p:spPr>
        <p:txBody>
          <a:bodyPr lIns="0" tIns="0" rIns="0" bIns="0" rtlCol="0" anchor="t">
            <a:spAutoFit/>
          </a:bodyPr>
          <a:lstStyle/>
          <a:p>
            <a:pPr algn="ctr">
              <a:lnSpc>
                <a:spcPts val="4240"/>
              </a:lnSpc>
            </a:pPr>
            <a:r>
              <a:rPr lang="en-US" sz="3028" b="1" dirty="0">
                <a:solidFill>
                  <a:srgbClr val="010A50"/>
                </a:solidFill>
                <a:latin typeface="DejaVu Serif Bold"/>
                <a:ea typeface="DejaVu Serif Bold"/>
                <a:cs typeface="DejaVu Serif Bold"/>
                <a:sym typeface="DejaVu Serif Bold"/>
              </a:rPr>
              <a:t>An extra feature</a:t>
            </a:r>
          </a:p>
        </p:txBody>
      </p:sp>
      <p:sp>
        <p:nvSpPr>
          <p:cNvPr id="6" name="TextBox 6"/>
          <p:cNvSpPr txBox="1"/>
          <p:nvPr/>
        </p:nvSpPr>
        <p:spPr>
          <a:xfrm>
            <a:off x="1225970" y="2481681"/>
            <a:ext cx="15836059" cy="1154888"/>
          </a:xfrm>
          <a:prstGeom prst="rect">
            <a:avLst/>
          </a:prstGeom>
        </p:spPr>
        <p:txBody>
          <a:bodyPr lIns="0" tIns="0" rIns="0" bIns="0" rtlCol="0" anchor="t">
            <a:spAutoFit/>
          </a:bodyPr>
          <a:lstStyle/>
          <a:p>
            <a:pPr algn="just">
              <a:lnSpc>
                <a:spcPts val="3019"/>
              </a:lnSpc>
            </a:pPr>
            <a:r>
              <a:rPr lang="en-US" sz="2156">
                <a:solidFill>
                  <a:srgbClr val="010A50"/>
                </a:solidFill>
                <a:latin typeface="AC Soft Icecream"/>
                <a:ea typeface="AC Soft Icecream"/>
                <a:cs typeface="AC Soft Icecream"/>
                <a:sym typeface="AC Soft Icecream"/>
              </a:rPr>
              <a:t>Μια τεχνικη επεξεργασίας σημάτων με την οποία ασχοληθήκαμε επίσης είναι αυτή της </a:t>
            </a:r>
            <a:r>
              <a:rPr lang="en-US" sz="2156">
                <a:solidFill>
                  <a:srgbClr val="D14725"/>
                </a:solidFill>
                <a:latin typeface="AC Soft Icecream"/>
                <a:ea typeface="AC Soft Icecream"/>
                <a:cs typeface="AC Soft Icecream"/>
                <a:sym typeface="AC Soft Icecream"/>
              </a:rPr>
              <a:t>συμπίεσης (compression)</a:t>
            </a:r>
            <a:r>
              <a:rPr lang="en-US" sz="2156">
                <a:solidFill>
                  <a:srgbClr val="010A50"/>
                </a:solidFill>
                <a:latin typeface="AC Soft Icecream"/>
                <a:ea typeface="AC Soft Icecream"/>
                <a:cs typeface="AC Soft Icecream"/>
                <a:sym typeface="AC Soft Icecream"/>
              </a:rPr>
              <a:t>. Με την συμπίεση μπορούμε να ρυθμίσουμε την </a:t>
            </a:r>
            <a:r>
              <a:rPr lang="en-US" sz="2156">
                <a:solidFill>
                  <a:srgbClr val="2A5D5E"/>
                </a:solidFill>
                <a:latin typeface="AC Soft Icecream"/>
                <a:ea typeface="AC Soft Icecream"/>
                <a:cs typeface="AC Soft Icecream"/>
                <a:sym typeface="AC Soft Icecream"/>
              </a:rPr>
              <a:t>ένταση του σήματός</a:t>
            </a:r>
            <a:r>
              <a:rPr lang="en-US" sz="2156">
                <a:solidFill>
                  <a:srgbClr val="010A50"/>
                </a:solidFill>
                <a:latin typeface="AC Soft Icecream"/>
                <a:ea typeface="AC Soft Icecream"/>
                <a:cs typeface="AC Soft Icecream"/>
                <a:sym typeface="AC Soft Icecream"/>
              </a:rPr>
              <a:t> μας να είναι όσο το δυνατόν </a:t>
            </a:r>
            <a:r>
              <a:rPr lang="en-US" sz="2156">
                <a:solidFill>
                  <a:srgbClr val="2A5D5E"/>
                </a:solidFill>
                <a:latin typeface="AC Soft Icecream"/>
                <a:ea typeface="AC Soft Icecream"/>
                <a:cs typeface="AC Soft Icecream"/>
                <a:sym typeface="AC Soft Icecream"/>
              </a:rPr>
              <a:t>πιο σταθερή ακουστικά</a:t>
            </a:r>
            <a:r>
              <a:rPr lang="en-US" sz="2156">
                <a:solidFill>
                  <a:srgbClr val="010A50"/>
                </a:solidFill>
                <a:latin typeface="AC Soft Icecream"/>
                <a:ea typeface="AC Soft Icecream"/>
                <a:cs typeface="AC Soft Icecream"/>
                <a:sym typeface="AC Soft Icecream"/>
              </a:rPr>
              <a:t>, χωρίς να χάνουμε λέξεις, απλά </a:t>
            </a:r>
            <a:r>
              <a:rPr lang="en-US" sz="2156">
                <a:solidFill>
                  <a:srgbClr val="2A5D5E"/>
                </a:solidFill>
                <a:latin typeface="AC Soft Icecream"/>
                <a:ea typeface="AC Soft Icecream"/>
                <a:cs typeface="AC Soft Icecream"/>
                <a:sym typeface="AC Soft Icecream"/>
              </a:rPr>
              <a:t>μειώνοντας τις μεγάλες διακυμάνσεις έντασης </a:t>
            </a:r>
            <a:r>
              <a:rPr lang="en-US" sz="2156">
                <a:solidFill>
                  <a:srgbClr val="010A50"/>
                </a:solidFill>
                <a:latin typeface="AC Soft Icecream"/>
                <a:ea typeface="AC Soft Icecream"/>
                <a:cs typeface="AC Soft Icecream"/>
                <a:sym typeface="AC Soft Icecream"/>
              </a:rPr>
              <a:t>και </a:t>
            </a:r>
            <a:r>
              <a:rPr lang="en-US" sz="2156">
                <a:solidFill>
                  <a:srgbClr val="2A5D5E"/>
                </a:solidFill>
                <a:latin typeface="AC Soft Icecream"/>
                <a:ea typeface="AC Soft Icecream"/>
                <a:cs typeface="AC Soft Icecream"/>
                <a:sym typeface="AC Soft Icecream"/>
              </a:rPr>
              <a:t>ενισχύοντας τα πιο αδύναμα σημεία</a:t>
            </a:r>
            <a:r>
              <a:rPr lang="en-US" sz="2156">
                <a:solidFill>
                  <a:srgbClr val="010A50"/>
                </a:solidFill>
                <a:latin typeface="AC Soft Icecream"/>
                <a:ea typeface="AC Soft Icecream"/>
                <a:cs typeface="AC Soft Icecream"/>
                <a:sym typeface="AC Soft Icecream"/>
              </a:rPr>
              <a:t>.</a:t>
            </a:r>
          </a:p>
        </p:txBody>
      </p:sp>
      <p:sp>
        <p:nvSpPr>
          <p:cNvPr id="7" name="TextBox 7"/>
          <p:cNvSpPr txBox="1"/>
          <p:nvPr/>
        </p:nvSpPr>
        <p:spPr>
          <a:xfrm>
            <a:off x="1225970" y="4483118"/>
            <a:ext cx="15836059" cy="1535888"/>
          </a:xfrm>
          <a:prstGeom prst="rect">
            <a:avLst/>
          </a:prstGeom>
        </p:spPr>
        <p:txBody>
          <a:bodyPr lIns="0" tIns="0" rIns="0" bIns="0" rtlCol="0" anchor="t">
            <a:spAutoFit/>
          </a:bodyPr>
          <a:lstStyle/>
          <a:p>
            <a:pPr algn="just">
              <a:lnSpc>
                <a:spcPts val="3019"/>
              </a:lnSpc>
            </a:pPr>
            <a:r>
              <a:rPr lang="en-US" sz="2156">
                <a:solidFill>
                  <a:srgbClr val="010A50"/>
                </a:solidFill>
                <a:latin typeface="AC Soft Icecream"/>
                <a:ea typeface="AC Soft Icecream"/>
                <a:cs typeface="AC Soft Icecream"/>
                <a:sym typeface="AC Soft Icecream"/>
              </a:rPr>
              <a:t>Για την υλοποίηση του συμπιεστή χρειαστήκαμε ένα δεύτερο μικρόφωνο με το οποίο θα μπορούσαμε να επεξεργαστούμε την φωνή μας σε ζωντανή ροή χωρίς να επιβαρύνουμε το σύστημα της VIRSI . Χρησιμοποιήσαμε το </a:t>
            </a:r>
            <a:r>
              <a:rPr lang="en-US" sz="2156">
                <a:solidFill>
                  <a:srgbClr val="2A5D5E"/>
                </a:solidFill>
                <a:latin typeface="AC Soft Icecream"/>
                <a:ea typeface="AC Soft Icecream"/>
                <a:cs typeface="AC Soft Icecream"/>
                <a:sym typeface="AC Soft Icecream"/>
              </a:rPr>
              <a:t>INMP441 </a:t>
            </a:r>
            <a:r>
              <a:rPr lang="en-US" sz="2156">
                <a:solidFill>
                  <a:srgbClr val="010A50"/>
                </a:solidFill>
                <a:latin typeface="AC Soft Icecream"/>
                <a:ea typeface="AC Soft Icecream"/>
                <a:cs typeface="AC Soft Icecream"/>
                <a:sym typeface="AC Soft Icecream"/>
              </a:rPr>
              <a:t>μικρόφωνο το οποίο υποστηρίζει </a:t>
            </a:r>
            <a:r>
              <a:rPr lang="en-US" sz="2156">
                <a:solidFill>
                  <a:srgbClr val="2A5D5E"/>
                </a:solidFill>
                <a:latin typeface="AC Soft Icecream"/>
                <a:ea typeface="AC Soft Icecream"/>
                <a:cs typeface="AC Soft Icecream"/>
                <a:sym typeface="AC Soft Icecream"/>
              </a:rPr>
              <a:t>I2S ήχο.</a:t>
            </a:r>
          </a:p>
          <a:p>
            <a:pPr algn="just">
              <a:lnSpc>
                <a:spcPts val="3019"/>
              </a:lnSpc>
            </a:pPr>
            <a:endParaRPr lang="en-US" sz="2156">
              <a:solidFill>
                <a:srgbClr val="2A5D5E"/>
              </a:solidFill>
              <a:latin typeface="AC Soft Icecream"/>
              <a:ea typeface="AC Soft Icecream"/>
              <a:cs typeface="AC Soft Icecream"/>
              <a:sym typeface="AC Soft Icecream"/>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6477000" y="292694"/>
            <a:ext cx="4395689" cy="718145"/>
          </a:xfrm>
          <a:prstGeom prst="rect">
            <a:avLst/>
          </a:prstGeom>
        </p:spPr>
        <p:txBody>
          <a:bodyPr wrap="square" lIns="0" tIns="0" rIns="0" bIns="0" rtlCol="0" anchor="t">
            <a:spAutoFit/>
          </a:bodyPr>
          <a:lstStyle/>
          <a:p>
            <a:pPr algn="ctr">
              <a:lnSpc>
                <a:spcPts val="5628"/>
              </a:lnSpc>
            </a:pPr>
            <a:r>
              <a:rPr lang="en-US" sz="4800" b="1">
                <a:solidFill>
                  <a:srgbClr val="010A50"/>
                </a:solidFill>
                <a:latin typeface="Noto Sans Bold"/>
                <a:ea typeface="Noto Sans Bold"/>
                <a:cs typeface="Noto Sans Bold"/>
                <a:sym typeface="Noto Sans Bold"/>
              </a:rPr>
              <a:t>COMPRESSOR</a:t>
            </a:r>
          </a:p>
        </p:txBody>
      </p:sp>
      <p:sp>
        <p:nvSpPr>
          <p:cNvPr id="5" name="TextBox 5"/>
          <p:cNvSpPr txBox="1"/>
          <p:nvPr/>
        </p:nvSpPr>
        <p:spPr>
          <a:xfrm>
            <a:off x="1225970" y="1682779"/>
            <a:ext cx="15836059" cy="7250888"/>
          </a:xfrm>
          <a:prstGeom prst="rect">
            <a:avLst/>
          </a:prstGeom>
        </p:spPr>
        <p:txBody>
          <a:bodyPr lIns="0" tIns="0" rIns="0" bIns="0" rtlCol="0" anchor="t">
            <a:spAutoFit/>
          </a:bodyPr>
          <a:lstStyle/>
          <a:p>
            <a:pPr algn="just">
              <a:lnSpc>
                <a:spcPts val="3019"/>
              </a:lnSpc>
            </a:pPr>
            <a:r>
              <a:rPr lang="en-US" sz="2156" dirty="0" err="1">
                <a:solidFill>
                  <a:srgbClr val="010A50"/>
                </a:solidFill>
                <a:latin typeface="AC Soft Icecream"/>
                <a:ea typeface="AC Soft Icecream"/>
                <a:cs typeface="AC Soft Icecream"/>
                <a:sym typeface="AC Soft Icecream"/>
              </a:rPr>
              <a:t>Έν</a:t>
            </a:r>
            <a:r>
              <a:rPr lang="en-US" sz="2156" dirty="0">
                <a:solidFill>
                  <a:srgbClr val="010A50"/>
                </a:solidFill>
                <a:latin typeface="AC Soft Icecream"/>
                <a:ea typeface="AC Soft Icecream"/>
                <a:cs typeface="AC Soft Icecream"/>
                <a:sym typeface="AC Soft Icecream"/>
              </a:rPr>
              <a:t>ας συμπιεστής χαρακτηρίζεται από τα εξής:</a:t>
            </a:r>
          </a:p>
          <a:p>
            <a:pPr marL="465690" lvl="1" indent="-232845" algn="just">
              <a:lnSpc>
                <a:spcPts val="3019"/>
              </a:lnSpc>
              <a:buFont typeface="Arial"/>
              <a:buChar char="•"/>
            </a:pPr>
            <a:r>
              <a:rPr lang="en-US" sz="2156" dirty="0">
                <a:solidFill>
                  <a:srgbClr val="D14725"/>
                </a:solidFill>
                <a:latin typeface="AC Soft Icecream"/>
                <a:ea typeface="AC Soft Icecream"/>
                <a:cs typeface="AC Soft Icecream"/>
                <a:sym typeface="AC Soft Icecream"/>
              </a:rPr>
              <a:t>Κα</a:t>
            </a:r>
            <a:r>
              <a:rPr lang="en-US" sz="2156" dirty="0" err="1">
                <a:solidFill>
                  <a:srgbClr val="D14725"/>
                </a:solidFill>
                <a:latin typeface="AC Soft Icecream"/>
                <a:ea typeface="AC Soft Icecream"/>
                <a:cs typeface="AC Soft Icecream"/>
                <a:sym typeface="AC Soft Icecream"/>
              </a:rPr>
              <a:t>τώφλι</a:t>
            </a:r>
            <a:r>
              <a:rPr lang="en-US" sz="2156" dirty="0">
                <a:solidFill>
                  <a:srgbClr val="D14725"/>
                </a:solidFill>
                <a:latin typeface="AC Soft Icecream"/>
                <a:ea typeface="AC Soft Icecream"/>
                <a:cs typeface="AC Soft Icecream"/>
                <a:sym typeface="AC Soft Icecream"/>
              </a:rPr>
              <a:t> (threshold)</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το</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όριο</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της</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έντ</a:t>
            </a:r>
            <a:r>
              <a:rPr lang="en-US" sz="2156" dirty="0">
                <a:solidFill>
                  <a:srgbClr val="010A50"/>
                </a:solidFill>
                <a:latin typeface="AC Soft Icecream"/>
                <a:ea typeface="AC Soft Icecream"/>
                <a:cs typeface="AC Soft Icecream"/>
                <a:sym typeface="AC Soft Icecream"/>
              </a:rPr>
              <a:t>ασης πάνω από το οποίο ξεκινάει η συμπίεση. </a:t>
            </a:r>
            <a:r>
              <a:rPr lang="en-US" sz="2156" dirty="0" err="1">
                <a:solidFill>
                  <a:srgbClr val="010A50"/>
                </a:solidFill>
                <a:latin typeface="AC Soft Icecream"/>
                <a:ea typeface="AC Soft Icecream"/>
                <a:cs typeface="AC Soft Icecream"/>
                <a:sym typeface="AC Soft Icecream"/>
              </a:rPr>
              <a:t>Μετριέτ</a:t>
            </a:r>
            <a:r>
              <a:rPr lang="en-US" sz="2156" dirty="0">
                <a:solidFill>
                  <a:srgbClr val="010A50"/>
                </a:solidFill>
                <a:latin typeface="AC Soft Icecream"/>
                <a:ea typeface="AC Soft Icecream"/>
                <a:cs typeface="AC Soft Icecream"/>
                <a:sym typeface="AC Soft Icecream"/>
              </a:rPr>
              <a:t>αι σε dB.</a:t>
            </a:r>
          </a:p>
          <a:p>
            <a:pPr marL="465690" lvl="1" indent="-232845" algn="just">
              <a:lnSpc>
                <a:spcPts val="3019"/>
              </a:lnSpc>
              <a:buFont typeface="Arial"/>
              <a:buChar char="•"/>
            </a:pPr>
            <a:r>
              <a:rPr lang="en-US" sz="2156" dirty="0" err="1">
                <a:solidFill>
                  <a:srgbClr val="D14725"/>
                </a:solidFill>
                <a:latin typeface="AC Soft Icecream"/>
                <a:ea typeface="AC Soft Icecream"/>
                <a:cs typeface="AC Soft Icecream"/>
                <a:sym typeface="AC Soft Icecream"/>
              </a:rPr>
              <a:t>Λόγος</a:t>
            </a:r>
            <a:r>
              <a:rPr lang="en-US" sz="2156" dirty="0">
                <a:solidFill>
                  <a:srgbClr val="D14725"/>
                </a:solidFill>
                <a:latin typeface="AC Soft Icecream"/>
                <a:ea typeface="AC Soft Icecream"/>
                <a:cs typeface="AC Soft Icecream"/>
                <a:sym typeface="AC Soft Icecream"/>
              </a:rPr>
              <a:t> </a:t>
            </a:r>
            <a:r>
              <a:rPr lang="en-US" sz="2156" dirty="0" err="1">
                <a:solidFill>
                  <a:srgbClr val="D14725"/>
                </a:solidFill>
                <a:latin typeface="AC Soft Icecream"/>
                <a:ea typeface="AC Soft Icecream"/>
                <a:cs typeface="AC Soft Icecream"/>
                <a:sym typeface="AC Soft Icecream"/>
              </a:rPr>
              <a:t>συμ</a:t>
            </a:r>
            <a:r>
              <a:rPr lang="en-US" sz="2156" dirty="0">
                <a:solidFill>
                  <a:srgbClr val="D14725"/>
                </a:solidFill>
                <a:latin typeface="AC Soft Icecream"/>
                <a:ea typeface="AC Soft Icecream"/>
                <a:cs typeface="AC Soft Icecream"/>
                <a:sym typeface="AC Soft Icecream"/>
              </a:rPr>
              <a:t>πίεσης (ratio)</a:t>
            </a:r>
            <a:r>
              <a:rPr lang="en-US" sz="2156" dirty="0">
                <a:solidFill>
                  <a:srgbClr val="010A50"/>
                </a:solidFill>
                <a:latin typeface="AC Soft Icecream"/>
                <a:ea typeface="AC Soft Icecream"/>
                <a:cs typeface="AC Soft Icecream"/>
                <a:sym typeface="AC Soft Icecream"/>
              </a:rPr>
              <a:t>: το ποσοστό μείωσης της έντασης πέρα από το κατώφλι.</a:t>
            </a:r>
          </a:p>
          <a:p>
            <a:pPr marL="465690" lvl="1" indent="-232845" algn="just">
              <a:lnSpc>
                <a:spcPts val="3019"/>
              </a:lnSpc>
              <a:buFont typeface="Arial"/>
              <a:buChar char="•"/>
            </a:pPr>
            <a:r>
              <a:rPr lang="en-US" sz="2156" dirty="0" err="1">
                <a:solidFill>
                  <a:srgbClr val="D14725"/>
                </a:solidFill>
                <a:latin typeface="AC Soft Icecream"/>
                <a:ea typeface="AC Soft Icecream"/>
                <a:cs typeface="AC Soft Icecream"/>
                <a:sym typeface="AC Soft Icecream"/>
              </a:rPr>
              <a:t>Χρόνος</a:t>
            </a:r>
            <a:r>
              <a:rPr lang="en-US" sz="2156" dirty="0">
                <a:solidFill>
                  <a:srgbClr val="D14725"/>
                </a:solidFill>
                <a:latin typeface="AC Soft Icecream"/>
                <a:ea typeface="AC Soft Icecream"/>
                <a:cs typeface="AC Soft Icecream"/>
                <a:sym typeface="AC Soft Icecream"/>
              </a:rPr>
              <a:t> επ</a:t>
            </a:r>
            <a:r>
              <a:rPr lang="en-US" sz="2156" dirty="0" err="1">
                <a:solidFill>
                  <a:srgbClr val="D14725"/>
                </a:solidFill>
                <a:latin typeface="AC Soft Icecream"/>
                <a:ea typeface="AC Soft Icecream"/>
                <a:cs typeface="AC Soft Icecream"/>
                <a:sym typeface="AC Soft Icecream"/>
              </a:rPr>
              <a:t>ίθεσης</a:t>
            </a:r>
            <a:r>
              <a:rPr lang="en-US" sz="2156" dirty="0">
                <a:solidFill>
                  <a:srgbClr val="D14725"/>
                </a:solidFill>
                <a:latin typeface="AC Soft Icecream"/>
                <a:ea typeface="AC Soft Icecream"/>
                <a:cs typeface="AC Soft Icecream"/>
                <a:sym typeface="AC Soft Icecream"/>
              </a:rPr>
              <a:t>/απ</a:t>
            </a:r>
            <a:r>
              <a:rPr lang="en-US" sz="2156" dirty="0" err="1">
                <a:solidFill>
                  <a:srgbClr val="D14725"/>
                </a:solidFill>
                <a:latin typeface="AC Soft Icecream"/>
                <a:ea typeface="AC Soft Icecream"/>
                <a:cs typeface="AC Soft Icecream"/>
                <a:sym typeface="AC Soft Icecream"/>
              </a:rPr>
              <a:t>ελευθέρωσης</a:t>
            </a:r>
            <a:r>
              <a:rPr lang="en-US" sz="2156" dirty="0">
                <a:solidFill>
                  <a:srgbClr val="D14725"/>
                </a:solidFill>
                <a:latin typeface="AC Soft Icecream"/>
                <a:ea typeface="AC Soft Icecream"/>
                <a:cs typeface="AC Soft Icecream"/>
                <a:sym typeface="AC Soft Icecream"/>
              </a:rPr>
              <a:t> (attack/release time)</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χρόνοι</a:t>
            </a:r>
            <a:r>
              <a:rPr lang="en-US" sz="2156" dirty="0">
                <a:solidFill>
                  <a:srgbClr val="010A50"/>
                </a:solidFill>
                <a:latin typeface="AC Soft Icecream"/>
                <a:ea typeface="AC Soft Icecream"/>
                <a:cs typeface="AC Soft Icecream"/>
                <a:sym typeface="AC Soft Icecream"/>
              </a:rPr>
              <a:t> π</a:t>
            </a:r>
            <a:r>
              <a:rPr lang="en-US" sz="2156" dirty="0" err="1">
                <a:solidFill>
                  <a:srgbClr val="010A50"/>
                </a:solidFill>
                <a:latin typeface="AC Soft Icecream"/>
                <a:ea typeface="AC Soft Icecream"/>
                <a:cs typeface="AC Soft Icecream"/>
                <a:sym typeface="AC Soft Icecream"/>
              </a:rPr>
              <a:t>ου</a:t>
            </a:r>
            <a:r>
              <a:rPr lang="en-US" sz="2156" dirty="0">
                <a:solidFill>
                  <a:srgbClr val="010A50"/>
                </a:solidFill>
                <a:latin typeface="AC Soft Icecream"/>
                <a:ea typeface="AC Soft Icecream"/>
                <a:cs typeface="AC Soft Icecream"/>
                <a:sym typeface="AC Soft Icecream"/>
              </a:rPr>
              <a:t> μας </a:t>
            </a:r>
            <a:r>
              <a:rPr lang="en-US" sz="2156" dirty="0" err="1">
                <a:solidFill>
                  <a:srgbClr val="010A50"/>
                </a:solidFill>
                <a:latin typeface="AC Soft Icecream"/>
                <a:ea typeface="AC Soft Icecream"/>
                <a:cs typeface="AC Soft Icecream"/>
                <a:sym typeface="AC Soft Icecream"/>
              </a:rPr>
              <a:t>δείχνουν</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το</a:t>
            </a:r>
            <a:r>
              <a:rPr lang="en-US" sz="2156" dirty="0">
                <a:solidFill>
                  <a:srgbClr val="010A50"/>
                </a:solidFill>
                <a:latin typeface="AC Soft Icecream"/>
                <a:ea typeface="AC Soft Icecream"/>
                <a:cs typeface="AC Soft Icecream"/>
                <a:sym typeface="AC Soft Icecream"/>
              </a:rPr>
              <a:t> π</a:t>
            </a:r>
            <a:r>
              <a:rPr lang="en-US" sz="2156" dirty="0" err="1">
                <a:solidFill>
                  <a:srgbClr val="010A50"/>
                </a:solidFill>
                <a:latin typeface="AC Soft Icecream"/>
                <a:ea typeface="AC Soft Icecream"/>
                <a:cs typeface="AC Soft Icecream"/>
                <a:sym typeface="AC Soft Icecream"/>
              </a:rPr>
              <a:t>όσο</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γρήγορ</a:t>
            </a:r>
            <a:r>
              <a:rPr lang="en-US" sz="2156" dirty="0">
                <a:solidFill>
                  <a:srgbClr val="010A50"/>
                </a:solidFill>
                <a:latin typeface="AC Soft Icecream"/>
                <a:ea typeface="AC Soft Icecream"/>
                <a:cs typeface="AC Soft Icecream"/>
                <a:sym typeface="AC Soft Icecream"/>
              </a:rPr>
              <a:t>α ξεκινάει ή σταματάει η συμπίεση.</a:t>
            </a:r>
          </a:p>
          <a:p>
            <a:pPr marL="465690" lvl="1" indent="-232845" algn="just">
              <a:lnSpc>
                <a:spcPts val="3019"/>
              </a:lnSpc>
              <a:buFont typeface="Arial"/>
              <a:buChar char="•"/>
            </a:pPr>
            <a:r>
              <a:rPr lang="en-US" sz="2156" dirty="0" err="1">
                <a:solidFill>
                  <a:srgbClr val="D14725"/>
                </a:solidFill>
                <a:latin typeface="AC Soft Icecream"/>
                <a:ea typeface="AC Soft Icecream"/>
                <a:cs typeface="AC Soft Icecream"/>
                <a:sym typeface="AC Soft Icecream"/>
              </a:rPr>
              <a:t>Τελική</a:t>
            </a:r>
            <a:r>
              <a:rPr lang="en-US" sz="2156" dirty="0">
                <a:solidFill>
                  <a:srgbClr val="D14725"/>
                </a:solidFill>
                <a:latin typeface="AC Soft Icecream"/>
                <a:ea typeface="AC Soft Icecream"/>
                <a:cs typeface="AC Soft Icecream"/>
                <a:sym typeface="AC Soft Icecream"/>
              </a:rPr>
              <a:t> </a:t>
            </a:r>
            <a:r>
              <a:rPr lang="en-US" sz="2156" dirty="0" err="1">
                <a:solidFill>
                  <a:srgbClr val="D14725"/>
                </a:solidFill>
                <a:latin typeface="AC Soft Icecream"/>
                <a:ea typeface="AC Soft Icecream"/>
                <a:cs typeface="AC Soft Icecream"/>
                <a:sym typeface="AC Soft Icecream"/>
              </a:rPr>
              <a:t>ενίσχυση</a:t>
            </a:r>
            <a:r>
              <a:rPr lang="en-US" sz="2156" dirty="0">
                <a:solidFill>
                  <a:srgbClr val="D14725"/>
                </a:solidFill>
                <a:latin typeface="AC Soft Icecream"/>
                <a:ea typeface="AC Soft Icecream"/>
                <a:cs typeface="AC Soft Icecream"/>
                <a:sym typeface="AC Soft Icecream"/>
              </a:rPr>
              <a:t> (make-up gain):</a:t>
            </a:r>
            <a:r>
              <a:rPr lang="en-US" sz="2156" dirty="0">
                <a:solidFill>
                  <a:srgbClr val="010A50"/>
                </a:solidFill>
                <a:latin typeface="AC Soft Icecream"/>
                <a:ea typeface="AC Soft Icecream"/>
                <a:cs typeface="AC Soft Icecream"/>
                <a:sym typeface="AC Soft Icecream"/>
              </a:rPr>
              <a:t> η </a:t>
            </a:r>
            <a:r>
              <a:rPr lang="en-US" sz="2156" dirty="0" err="1">
                <a:solidFill>
                  <a:srgbClr val="010A50"/>
                </a:solidFill>
                <a:latin typeface="AC Soft Icecream"/>
                <a:ea typeface="AC Soft Icecream"/>
                <a:cs typeface="AC Soft Icecream"/>
                <a:sym typeface="AC Soft Icecream"/>
              </a:rPr>
              <a:t>τιμή</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της</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ενίσχυσης</a:t>
            </a:r>
            <a:r>
              <a:rPr lang="en-US" sz="2156" dirty="0">
                <a:solidFill>
                  <a:srgbClr val="010A50"/>
                </a:solidFill>
                <a:latin typeface="AC Soft Icecream"/>
                <a:ea typeface="AC Soft Icecream"/>
                <a:cs typeface="AC Soft Icecream"/>
                <a:sym typeface="AC Soft Icecream"/>
              </a:rPr>
              <a:t> π</a:t>
            </a:r>
            <a:r>
              <a:rPr lang="en-US" sz="2156" dirty="0" err="1">
                <a:solidFill>
                  <a:srgbClr val="010A50"/>
                </a:solidFill>
                <a:latin typeface="AC Soft Icecream"/>
                <a:ea typeface="AC Soft Icecream"/>
                <a:cs typeface="AC Soft Icecream"/>
                <a:sym typeface="AC Soft Icecream"/>
              </a:rPr>
              <a:t>ου</a:t>
            </a:r>
            <a:r>
              <a:rPr lang="en-US" sz="2156" dirty="0">
                <a:solidFill>
                  <a:srgbClr val="010A50"/>
                </a:solidFill>
                <a:latin typeface="AC Soft Icecream"/>
                <a:ea typeface="AC Soft Icecream"/>
                <a:cs typeface="AC Soft Icecream"/>
                <a:sym typeface="AC Soft Icecream"/>
              </a:rPr>
              <a:t> π</a:t>
            </a:r>
            <a:r>
              <a:rPr lang="en-US" sz="2156" dirty="0" err="1">
                <a:solidFill>
                  <a:srgbClr val="010A50"/>
                </a:solidFill>
                <a:latin typeface="AC Soft Icecream"/>
                <a:ea typeface="AC Soft Icecream"/>
                <a:cs typeface="AC Soft Icecream"/>
                <a:sym typeface="AC Soft Icecream"/>
              </a:rPr>
              <a:t>ροκύ</a:t>
            </a:r>
            <a:r>
              <a:rPr lang="en-US" sz="2156" dirty="0">
                <a:solidFill>
                  <a:srgbClr val="010A50"/>
                </a:solidFill>
                <a:latin typeface="AC Soft Icecream"/>
                <a:ea typeface="AC Soft Icecream"/>
                <a:cs typeface="AC Soft Icecream"/>
                <a:sym typeface="AC Soft Icecream"/>
              </a:rPr>
              <a:t>πτει μετά την συμπίεση, ώστε να φτάσει στην επιθυμητή ένταση.</a:t>
            </a:r>
          </a:p>
          <a:p>
            <a:pPr algn="just">
              <a:lnSpc>
                <a:spcPts val="3019"/>
              </a:lnSpc>
            </a:pPr>
            <a:r>
              <a:rPr lang="en-US" sz="2156" dirty="0" err="1">
                <a:solidFill>
                  <a:srgbClr val="010A50"/>
                </a:solidFill>
                <a:latin typeface="AC Soft Icecream"/>
                <a:ea typeface="AC Soft Icecream"/>
                <a:cs typeface="AC Soft Icecream"/>
                <a:sym typeface="AC Soft Icecream"/>
              </a:rPr>
              <a:t>Γι</a:t>
            </a:r>
            <a:r>
              <a:rPr lang="en-US" sz="2156" dirty="0">
                <a:solidFill>
                  <a:srgbClr val="010A50"/>
                </a:solidFill>
                <a:latin typeface="AC Soft Icecream"/>
                <a:ea typeface="AC Soft Icecream"/>
                <a:cs typeface="AC Soft Icecream"/>
                <a:sym typeface="AC Soft Icecream"/>
              </a:rPr>
              <a:t>α τον συμπιεστή χρειάστηκε να δημιουργήσουμε μέσω κώδικα ένα </a:t>
            </a:r>
            <a:r>
              <a:rPr lang="en-US" sz="2156" dirty="0">
                <a:solidFill>
                  <a:srgbClr val="D14725"/>
                </a:solidFill>
                <a:latin typeface="AC Soft Icecream"/>
                <a:ea typeface="AC Soft Icecream"/>
                <a:cs typeface="AC Soft Icecream"/>
                <a:sym typeface="AC Soft Icecream"/>
              </a:rPr>
              <a:t>φίλτρο εκθετικού κινούμενου μέσου όρου EMA (Exponential Moving Average)</a:t>
            </a:r>
            <a:r>
              <a:rPr lang="en-US" sz="2156" dirty="0">
                <a:solidFill>
                  <a:srgbClr val="010A50"/>
                </a:solidFill>
                <a:latin typeface="AC Soft Icecream"/>
                <a:ea typeface="AC Soft Icecream"/>
                <a:cs typeface="AC Soft Icecream"/>
                <a:sym typeface="AC Soft Icecream"/>
              </a:rPr>
              <a:t>, το οποίο πρόκειται για ένα </a:t>
            </a:r>
            <a:r>
              <a:rPr lang="en-US" sz="2156" dirty="0">
                <a:solidFill>
                  <a:srgbClr val="2A5D5E"/>
                </a:solidFill>
                <a:latin typeface="AC Soft Icecream"/>
                <a:ea typeface="AC Soft Icecream"/>
                <a:cs typeface="AC Soft Icecream"/>
                <a:sym typeface="AC Soft Icecream"/>
              </a:rPr>
              <a:t>μονοπολικό (first order) χαμηλοπερατό (low-pass) άπειρης απόκρισης παλμού (Infinite Impulse Response – IIR) φίλτρο</a:t>
            </a:r>
            <a:r>
              <a:rPr lang="en-US" sz="2156" dirty="0">
                <a:solidFill>
                  <a:srgbClr val="010A50"/>
                </a:solidFill>
                <a:latin typeface="AC Soft Icecream"/>
                <a:ea typeface="AC Soft Icecream"/>
                <a:cs typeface="AC Soft Icecream"/>
                <a:sym typeface="AC Soft Icecream"/>
              </a:rPr>
              <a:t>, το οποίο χρησιμοποιείται στην επεξεργασία σημάτων και δίνεται από την πολύ απλή μαθηματική σχέση: </a:t>
            </a:r>
            <a:r>
              <a:rPr lang="en-US" sz="2156" dirty="0">
                <a:solidFill>
                  <a:srgbClr val="D14725"/>
                </a:solidFill>
                <a:latin typeface="AC Soft Icecream"/>
                <a:ea typeface="AC Soft Icecream"/>
                <a:cs typeface="AC Soft Icecream"/>
                <a:sym typeface="AC Soft Icecream"/>
              </a:rPr>
              <a:t>y[n] = αx[n] + (1-a)y[n-1]</a:t>
            </a:r>
            <a:r>
              <a:rPr lang="en-US" sz="2156" dirty="0">
                <a:solidFill>
                  <a:srgbClr val="010A50"/>
                </a:solidFill>
                <a:latin typeface="AC Soft Icecream"/>
                <a:ea typeface="AC Soft Icecream"/>
                <a:cs typeface="AC Soft Icecream"/>
                <a:sym typeface="AC Soft Icecream"/>
              </a:rPr>
              <a:t> , όπου</a:t>
            </a:r>
          </a:p>
          <a:p>
            <a:pPr marL="465690" lvl="1" indent="-232845" algn="just">
              <a:lnSpc>
                <a:spcPts val="3019"/>
              </a:lnSpc>
              <a:buFont typeface="Arial"/>
              <a:buChar char="•"/>
            </a:pPr>
            <a:r>
              <a:rPr lang="en-US" sz="2156" dirty="0">
                <a:solidFill>
                  <a:srgbClr val="010A50"/>
                </a:solidFill>
                <a:latin typeface="AC Soft Icecream"/>
                <a:ea typeface="AC Soft Icecream"/>
                <a:cs typeface="AC Soft Icecream"/>
                <a:sym typeface="AC Soft Icecream"/>
              </a:rPr>
              <a:t> x[n] η </a:t>
            </a:r>
            <a:r>
              <a:rPr lang="en-US" sz="2156" dirty="0" err="1">
                <a:solidFill>
                  <a:srgbClr val="010A50"/>
                </a:solidFill>
                <a:latin typeface="AC Soft Icecream"/>
                <a:ea typeface="AC Soft Icecream"/>
                <a:cs typeface="AC Soft Icecream"/>
                <a:sym typeface="AC Soft Icecream"/>
              </a:rPr>
              <a:t>είσοδος</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το</a:t>
            </a:r>
            <a:r>
              <a:rPr lang="en-US" sz="2156" dirty="0">
                <a:solidFill>
                  <a:srgbClr val="010A50"/>
                </a:solidFill>
                <a:latin typeface="AC Soft Icecream"/>
                <a:ea typeface="AC Soft Icecream"/>
                <a:cs typeface="AC Soft Icecream"/>
                <a:sym typeface="AC Soft Icecream"/>
              </a:rPr>
              <a:t> α</a:t>
            </a:r>
            <a:r>
              <a:rPr lang="en-US" sz="2156" dirty="0" err="1">
                <a:solidFill>
                  <a:srgbClr val="010A50"/>
                </a:solidFill>
                <a:latin typeface="AC Soft Icecream"/>
                <a:ea typeface="AC Soft Icecream"/>
                <a:cs typeface="AC Soft Icecream"/>
                <a:sym typeface="AC Soft Icecream"/>
              </a:rPr>
              <a:t>ρχικό</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σήμ</a:t>
            </a:r>
            <a:r>
              <a:rPr lang="en-US" sz="2156" dirty="0">
                <a:solidFill>
                  <a:srgbClr val="010A50"/>
                </a:solidFill>
                <a:latin typeface="AC Soft Icecream"/>
                <a:ea typeface="AC Soft Icecream"/>
                <a:cs typeface="AC Soft Icecream"/>
                <a:sym typeface="AC Soft Icecream"/>
              </a:rPr>
              <a:t>α),</a:t>
            </a:r>
          </a:p>
          <a:p>
            <a:pPr marL="465690" lvl="1" indent="-232845" algn="just">
              <a:lnSpc>
                <a:spcPts val="3019"/>
              </a:lnSpc>
              <a:buFont typeface="Arial"/>
              <a:buChar char="•"/>
            </a:pPr>
            <a:r>
              <a:rPr lang="en-US" sz="2156" dirty="0">
                <a:solidFill>
                  <a:srgbClr val="010A50"/>
                </a:solidFill>
                <a:latin typeface="AC Soft Icecream"/>
                <a:ea typeface="AC Soft Icecream"/>
                <a:cs typeface="AC Soft Icecream"/>
                <a:sym typeface="AC Soft Icecream"/>
              </a:rPr>
              <a:t>y[n] η </a:t>
            </a:r>
            <a:r>
              <a:rPr lang="en-US" sz="2156" dirty="0" err="1">
                <a:solidFill>
                  <a:srgbClr val="010A50"/>
                </a:solidFill>
                <a:latin typeface="AC Soft Icecream"/>
                <a:ea typeface="AC Soft Icecream"/>
                <a:cs typeface="AC Soft Icecream"/>
                <a:sym typeface="AC Soft Icecream"/>
              </a:rPr>
              <a:t>έξοδος</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το</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εξομ</a:t>
            </a:r>
            <a:r>
              <a:rPr lang="en-US" sz="2156" dirty="0">
                <a:solidFill>
                  <a:srgbClr val="010A50"/>
                </a:solidFill>
                <a:latin typeface="AC Soft Icecream"/>
                <a:ea typeface="AC Soft Icecream"/>
                <a:cs typeface="AC Soft Icecream"/>
                <a:sym typeface="AC Soft Icecream"/>
              </a:rPr>
              <a:t>αλυμένο σήμα) και</a:t>
            </a:r>
          </a:p>
          <a:p>
            <a:pPr marL="465690" lvl="1" indent="-232845" algn="just">
              <a:lnSpc>
                <a:spcPts val="3019"/>
              </a:lnSpc>
              <a:buFont typeface="Arial"/>
              <a:buChar char="•"/>
            </a:pPr>
            <a:r>
              <a:rPr lang="en-US" sz="2156" dirty="0">
                <a:solidFill>
                  <a:srgbClr val="010A50"/>
                </a:solidFill>
                <a:latin typeface="AC Soft Icecream"/>
                <a:ea typeface="AC Soft Icecream"/>
                <a:cs typeface="AC Soft Icecream"/>
                <a:sym typeface="AC Soft Icecream"/>
              </a:rPr>
              <a:t>α, ο </a:t>
            </a:r>
            <a:r>
              <a:rPr lang="en-US" sz="2156" dirty="0" err="1">
                <a:solidFill>
                  <a:srgbClr val="010A50"/>
                </a:solidFill>
                <a:latin typeface="AC Soft Icecream"/>
                <a:ea typeface="AC Soft Icecream"/>
                <a:cs typeface="AC Soft Icecream"/>
                <a:sym typeface="AC Soft Icecream"/>
              </a:rPr>
              <a:t>συντελεστής</a:t>
            </a:r>
            <a:r>
              <a:rPr lang="en-US" sz="2156" dirty="0">
                <a:solidFill>
                  <a:srgbClr val="010A50"/>
                </a:solidFill>
                <a:latin typeface="AC Soft Icecream"/>
                <a:ea typeface="AC Soft Icecream"/>
                <a:cs typeface="AC Soft Icecream"/>
                <a:sym typeface="AC Soft Icecream"/>
              </a:rPr>
              <a:t> </a:t>
            </a:r>
            <a:r>
              <a:rPr lang="en-US" sz="2156" dirty="0" err="1">
                <a:solidFill>
                  <a:srgbClr val="010A50"/>
                </a:solidFill>
                <a:latin typeface="AC Soft Icecream"/>
                <a:ea typeface="AC Soft Icecream"/>
                <a:cs typeface="AC Soft Icecream"/>
                <a:sym typeface="AC Soft Icecream"/>
              </a:rPr>
              <a:t>εξομάλυνσης</a:t>
            </a:r>
            <a:r>
              <a:rPr lang="en-US" sz="2156" dirty="0">
                <a:solidFill>
                  <a:srgbClr val="010A50"/>
                </a:solidFill>
                <a:latin typeface="AC Soft Icecream"/>
                <a:ea typeface="AC Soft Icecream"/>
                <a:cs typeface="AC Soft Icecream"/>
                <a:sym typeface="AC Soft Icecream"/>
              </a:rPr>
              <a:t> (smoothing factor) </a:t>
            </a:r>
            <a:r>
              <a:rPr lang="en-US" sz="2156" dirty="0" err="1">
                <a:solidFill>
                  <a:srgbClr val="010A50"/>
                </a:solidFill>
                <a:latin typeface="AC Soft Icecream"/>
                <a:ea typeface="AC Soft Icecream"/>
                <a:cs typeface="AC Soft Icecream"/>
                <a:sym typeface="AC Soft Icecream"/>
              </a:rPr>
              <a:t>γι</a:t>
            </a:r>
            <a:r>
              <a:rPr lang="en-US" sz="2156" dirty="0">
                <a:solidFill>
                  <a:srgbClr val="010A50"/>
                </a:solidFill>
                <a:latin typeface="AC Soft Icecream"/>
                <a:ea typeface="AC Soft Icecream"/>
                <a:cs typeface="AC Soft Icecream"/>
                <a:sym typeface="AC Soft Icecream"/>
              </a:rPr>
              <a:t>α τον οποίο ισχύει α .</a:t>
            </a:r>
          </a:p>
          <a:p>
            <a:pPr algn="just">
              <a:lnSpc>
                <a:spcPts val="3019"/>
              </a:lnSpc>
            </a:pPr>
            <a:endParaRPr lang="en-US" sz="2156" dirty="0">
              <a:solidFill>
                <a:srgbClr val="010A50"/>
              </a:solidFill>
              <a:latin typeface="AC Soft Icecream"/>
              <a:ea typeface="AC Soft Icecream"/>
              <a:cs typeface="AC Soft Icecream"/>
              <a:sym typeface="AC Soft Icecream"/>
            </a:endParaRPr>
          </a:p>
          <a:p>
            <a:pPr algn="just">
              <a:lnSpc>
                <a:spcPts val="3019"/>
              </a:lnSpc>
            </a:pPr>
            <a:r>
              <a:rPr lang="en-US" sz="2156" dirty="0" err="1">
                <a:solidFill>
                  <a:srgbClr val="010A50"/>
                </a:solidFill>
                <a:latin typeface="AC Soft Icecream"/>
                <a:ea typeface="AC Soft Icecream"/>
                <a:cs typeface="AC Soft Icecream"/>
                <a:sym typeface="AC Soft Icecream"/>
              </a:rPr>
              <a:t>Αν</a:t>
            </a:r>
            <a:r>
              <a:rPr lang="en-US" sz="2156" dirty="0">
                <a:solidFill>
                  <a:srgbClr val="010A50"/>
                </a:solidFill>
                <a:latin typeface="AC Soft Icecream"/>
                <a:ea typeface="AC Soft Icecream"/>
                <a:cs typeface="AC Soft Icecream"/>
                <a:sym typeface="AC Soft Icecream"/>
              </a:rPr>
              <a:t> ο α </a:t>
            </a:r>
            <a:r>
              <a:rPr lang="en-US" sz="2156" dirty="0" err="1">
                <a:solidFill>
                  <a:srgbClr val="010A50"/>
                </a:solidFill>
                <a:latin typeface="AC Soft Icecream"/>
                <a:ea typeface="AC Soft Icecream"/>
                <a:cs typeface="AC Soft Icecream"/>
                <a:sym typeface="AC Soft Icecream"/>
              </a:rPr>
              <a:t>είν</a:t>
            </a:r>
            <a:r>
              <a:rPr lang="en-US" sz="2156" dirty="0">
                <a:solidFill>
                  <a:srgbClr val="010A50"/>
                </a:solidFill>
                <a:latin typeface="AC Soft Icecream"/>
                <a:ea typeface="AC Soft Icecream"/>
                <a:cs typeface="AC Soft Icecream"/>
                <a:sym typeface="AC Soft Icecream"/>
              </a:rPr>
              <a:t>αι κοντά στο 1, τότε το φίλτρο «ακολουθεί» γρήγορα τις αλλαγές στο σήμα εισόδου x[n] (γρήγορο attack). </a:t>
            </a:r>
            <a:r>
              <a:rPr lang="en-US" sz="2156" dirty="0" err="1">
                <a:solidFill>
                  <a:srgbClr val="010A50"/>
                </a:solidFill>
                <a:latin typeface="AC Soft Icecream"/>
                <a:ea typeface="AC Soft Icecream"/>
                <a:cs typeface="AC Soft Icecream"/>
                <a:sym typeface="AC Soft Icecream"/>
              </a:rPr>
              <a:t>Αν</a:t>
            </a:r>
            <a:r>
              <a:rPr lang="en-US" sz="2156" dirty="0">
                <a:solidFill>
                  <a:srgbClr val="010A50"/>
                </a:solidFill>
                <a:latin typeface="AC Soft Icecream"/>
                <a:ea typeface="AC Soft Icecream"/>
                <a:cs typeface="AC Soft Icecream"/>
                <a:sym typeface="AC Soft Icecream"/>
              </a:rPr>
              <a:t> ο α </a:t>
            </a:r>
            <a:r>
              <a:rPr lang="en-US" sz="2156" dirty="0" err="1">
                <a:solidFill>
                  <a:srgbClr val="010A50"/>
                </a:solidFill>
                <a:latin typeface="AC Soft Icecream"/>
                <a:ea typeface="AC Soft Icecream"/>
                <a:cs typeface="AC Soft Icecream"/>
                <a:sym typeface="AC Soft Icecream"/>
              </a:rPr>
              <a:t>τώρ</a:t>
            </a:r>
            <a:r>
              <a:rPr lang="en-US" sz="2156" dirty="0">
                <a:solidFill>
                  <a:srgbClr val="010A50"/>
                </a:solidFill>
                <a:latin typeface="AC Soft Icecream"/>
                <a:ea typeface="AC Soft Icecream"/>
                <a:cs typeface="AC Soft Icecream"/>
                <a:sym typeface="AC Soft Icecream"/>
              </a:rPr>
              <a:t>α είναι κοντά στο 0, τότε το φίλτρο διατηρεί («συγκρατεί») τον προηγούμενο όρο της εξόδου (y[n-1]) και αλλάζει πολύ αργά (αργό release). </a:t>
            </a:r>
            <a:r>
              <a:rPr lang="en-US" sz="2156" dirty="0" err="1">
                <a:solidFill>
                  <a:srgbClr val="010A50"/>
                </a:solidFill>
                <a:latin typeface="AC Soft Icecream"/>
                <a:ea typeface="AC Soft Icecream"/>
                <a:cs typeface="AC Soft Icecream"/>
                <a:sym typeface="AC Soft Icecream"/>
              </a:rPr>
              <a:t>Στην</a:t>
            </a:r>
            <a:r>
              <a:rPr lang="en-US" sz="2156" dirty="0">
                <a:solidFill>
                  <a:srgbClr val="010A50"/>
                </a:solidFill>
                <a:latin typeface="AC Soft Icecream"/>
                <a:ea typeface="AC Soft Icecream"/>
                <a:cs typeface="AC Soft Icecream"/>
                <a:sym typeface="AC Soft Icecream"/>
              </a:rPr>
              <a:t> πρα</a:t>
            </a:r>
            <a:r>
              <a:rPr lang="en-US" sz="2156" dirty="0" err="1">
                <a:solidFill>
                  <a:srgbClr val="010A50"/>
                </a:solidFill>
                <a:latin typeface="AC Soft Icecream"/>
                <a:ea typeface="AC Soft Icecream"/>
                <a:cs typeface="AC Soft Icecream"/>
                <a:sym typeface="AC Soft Icecream"/>
              </a:rPr>
              <a:t>γμ</a:t>
            </a:r>
            <a:r>
              <a:rPr lang="en-US" sz="2156" dirty="0">
                <a:solidFill>
                  <a:srgbClr val="010A50"/>
                </a:solidFill>
                <a:latin typeface="AC Soft Icecream"/>
                <a:ea typeface="AC Soft Icecream"/>
                <a:cs typeface="AC Soft Icecream"/>
                <a:sym typeface="AC Soft Icecream"/>
              </a:rPr>
              <a:t>ατικότητα, ο συμπιεστής χρησιμοποιεί δύο τέτοια φίλτρα. </a:t>
            </a:r>
            <a:r>
              <a:rPr lang="en-US" sz="2156" dirty="0" err="1">
                <a:solidFill>
                  <a:srgbClr val="010A50"/>
                </a:solidFill>
                <a:latin typeface="AC Soft Icecream"/>
                <a:ea typeface="AC Soft Icecream"/>
                <a:cs typeface="AC Soft Icecream"/>
                <a:sym typeface="AC Soft Icecream"/>
              </a:rPr>
              <a:t>Έν</a:t>
            </a:r>
            <a:r>
              <a:rPr lang="en-US" sz="2156" dirty="0">
                <a:solidFill>
                  <a:srgbClr val="010A50"/>
                </a:solidFill>
                <a:latin typeface="AC Soft Icecream"/>
                <a:ea typeface="AC Soft Icecream"/>
                <a:cs typeface="AC Soft Icecream"/>
                <a:sym typeface="AC Soft Icecream"/>
              </a:rPr>
              <a:t>α με μεγάλο α και ένα με μικρό α. </a:t>
            </a:r>
          </a:p>
          <a:p>
            <a:pPr algn="just">
              <a:lnSpc>
                <a:spcPts val="3019"/>
              </a:lnSpc>
            </a:pPr>
            <a:endParaRPr lang="en-US" sz="2156" dirty="0">
              <a:solidFill>
                <a:srgbClr val="010A50"/>
              </a:solidFill>
              <a:latin typeface="AC Soft Icecream"/>
              <a:ea typeface="AC Soft Icecream"/>
              <a:cs typeface="AC Soft Icecream"/>
              <a:sym typeface="AC Soft Icecrea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6043313" y="6156523"/>
            <a:ext cx="6201373" cy="4130477"/>
          </a:xfrm>
          <a:custGeom>
            <a:avLst/>
            <a:gdLst/>
            <a:ahLst/>
            <a:cxnLst/>
            <a:rect l="l" t="t" r="r" b="b"/>
            <a:pathLst>
              <a:path w="6201373" h="4130477">
                <a:moveTo>
                  <a:pt x="0" y="0"/>
                </a:moveTo>
                <a:lnTo>
                  <a:pt x="6201374" y="0"/>
                </a:lnTo>
                <a:lnTo>
                  <a:pt x="6201374" y="4130477"/>
                </a:lnTo>
                <a:lnTo>
                  <a:pt x="0" y="4130477"/>
                </a:lnTo>
                <a:lnTo>
                  <a:pt x="0" y="0"/>
                </a:lnTo>
                <a:close/>
              </a:path>
            </a:pathLst>
          </a:custGeom>
          <a:blipFill>
            <a:blip r:embed="rId6"/>
            <a:stretch>
              <a:fillRect/>
            </a:stretch>
          </a:blipFill>
        </p:spPr>
      </p:sp>
      <p:sp>
        <p:nvSpPr>
          <p:cNvPr id="5" name="TextBox 5"/>
          <p:cNvSpPr txBox="1"/>
          <p:nvPr/>
        </p:nvSpPr>
        <p:spPr>
          <a:xfrm>
            <a:off x="5057774" y="292694"/>
            <a:ext cx="8153400" cy="718145"/>
          </a:xfrm>
          <a:prstGeom prst="rect">
            <a:avLst/>
          </a:prstGeom>
        </p:spPr>
        <p:txBody>
          <a:bodyPr wrap="square" lIns="0" tIns="0" rIns="0" bIns="0" rtlCol="0" anchor="t">
            <a:spAutoFit/>
          </a:bodyPr>
          <a:lstStyle/>
          <a:p>
            <a:pPr algn="ctr">
              <a:lnSpc>
                <a:spcPts val="5628"/>
              </a:lnSpc>
            </a:pPr>
            <a:r>
              <a:rPr lang="en-US" sz="4800" b="1" dirty="0">
                <a:solidFill>
                  <a:srgbClr val="010A50"/>
                </a:solidFill>
                <a:latin typeface="Noto Sans Bold"/>
                <a:ea typeface="Noto Sans Bold"/>
                <a:cs typeface="Noto Sans Bold"/>
                <a:sym typeface="Noto Sans Bold"/>
              </a:rPr>
              <a:t>INMP441 &amp; I2S SOUND</a:t>
            </a:r>
          </a:p>
        </p:txBody>
      </p:sp>
      <p:sp>
        <p:nvSpPr>
          <p:cNvPr id="6" name="TextBox 6"/>
          <p:cNvSpPr txBox="1"/>
          <p:nvPr/>
        </p:nvSpPr>
        <p:spPr>
          <a:xfrm>
            <a:off x="1216445" y="1835455"/>
            <a:ext cx="15836059" cy="773888"/>
          </a:xfrm>
          <a:prstGeom prst="rect">
            <a:avLst/>
          </a:prstGeom>
        </p:spPr>
        <p:txBody>
          <a:bodyPr lIns="0" tIns="0" rIns="0" bIns="0" rtlCol="0" anchor="t">
            <a:spAutoFit/>
          </a:bodyPr>
          <a:lstStyle/>
          <a:p>
            <a:pPr algn="just">
              <a:lnSpc>
                <a:spcPts val="3019"/>
              </a:lnSpc>
            </a:pPr>
            <a:r>
              <a:rPr lang="en-US" sz="2156">
                <a:solidFill>
                  <a:srgbClr val="010A50"/>
                </a:solidFill>
                <a:latin typeface="AC Soft Icecream"/>
                <a:ea typeface="AC Soft Icecream"/>
                <a:cs typeface="AC Soft Icecream"/>
                <a:sym typeface="AC Soft Icecream"/>
              </a:rPr>
              <a:t>Το INMP441 μικρόφωνο είναι ένα </a:t>
            </a:r>
            <a:r>
              <a:rPr lang="en-US" sz="2156">
                <a:solidFill>
                  <a:srgbClr val="2A5D5E"/>
                </a:solidFill>
                <a:latin typeface="AC Soft Icecream"/>
                <a:ea typeface="AC Soft Icecream"/>
                <a:cs typeface="AC Soft Icecream"/>
                <a:sym typeface="AC Soft Icecream"/>
              </a:rPr>
              <a:t>ψηφιακό MEMS μικρόφωνο </a:t>
            </a:r>
            <a:r>
              <a:rPr lang="en-US" sz="2156">
                <a:solidFill>
                  <a:srgbClr val="010A50"/>
                </a:solidFill>
                <a:latin typeface="AC Soft Icecream"/>
                <a:ea typeface="AC Soft Icecream"/>
                <a:cs typeface="AC Soft Icecream"/>
                <a:sym typeface="AC Soft Icecream"/>
              </a:rPr>
              <a:t>και αυτό, αλλά χρησιμοποιεί το πρωτόκολλο </a:t>
            </a:r>
            <a:r>
              <a:rPr lang="en-US" sz="2156">
                <a:solidFill>
                  <a:srgbClr val="2A5D5E"/>
                </a:solidFill>
                <a:latin typeface="AC Soft Icecream"/>
                <a:ea typeface="AC Soft Icecream"/>
                <a:cs typeface="AC Soft Icecream"/>
                <a:sym typeface="AC Soft Icecream"/>
              </a:rPr>
              <a:t>I2S (Inter Integrated Circuit Sound Protocol)</a:t>
            </a:r>
            <a:r>
              <a:rPr lang="en-US" sz="2156">
                <a:solidFill>
                  <a:srgbClr val="010A50"/>
                </a:solidFill>
                <a:latin typeface="AC Soft Icecream"/>
                <a:ea typeface="AC Soft Icecream"/>
                <a:cs typeface="AC Soft Icecream"/>
                <a:sym typeface="AC Soft Icecream"/>
              </a:rPr>
              <a:t>.</a:t>
            </a:r>
          </a:p>
        </p:txBody>
      </p:sp>
      <p:sp>
        <p:nvSpPr>
          <p:cNvPr id="7" name="TextBox 7"/>
          <p:cNvSpPr txBox="1"/>
          <p:nvPr/>
        </p:nvSpPr>
        <p:spPr>
          <a:xfrm>
            <a:off x="6858000" y="2542668"/>
            <a:ext cx="4354265" cy="449803"/>
          </a:xfrm>
          <a:prstGeom prst="rect">
            <a:avLst/>
          </a:prstGeom>
        </p:spPr>
        <p:txBody>
          <a:bodyPr wrap="square" lIns="0" tIns="0" rIns="0" bIns="0" rtlCol="0" anchor="t">
            <a:spAutoFit/>
          </a:bodyPr>
          <a:lstStyle/>
          <a:p>
            <a:pPr algn="ctr">
              <a:lnSpc>
                <a:spcPts val="3820"/>
              </a:lnSpc>
            </a:pPr>
            <a:r>
              <a:rPr lang="en-US" sz="2728" b="1" dirty="0" err="1">
                <a:solidFill>
                  <a:srgbClr val="010A50"/>
                </a:solidFill>
                <a:latin typeface="DejaVu Serif Bold"/>
                <a:ea typeface="DejaVu Serif Bold"/>
                <a:cs typeface="DejaVu Serif Bold"/>
                <a:sym typeface="DejaVu Serif Bold"/>
              </a:rPr>
              <a:t>Τι</a:t>
            </a:r>
            <a:r>
              <a:rPr lang="en-US" sz="2728" b="1" dirty="0">
                <a:solidFill>
                  <a:srgbClr val="010A50"/>
                </a:solidFill>
                <a:latin typeface="DejaVu Serif Bold"/>
                <a:ea typeface="DejaVu Serif Bold"/>
                <a:cs typeface="DejaVu Serif Bold"/>
                <a:sym typeface="DejaVu Serif Bold"/>
              </a:rPr>
              <a:t> </a:t>
            </a:r>
            <a:r>
              <a:rPr lang="en-US" sz="2728" b="1" dirty="0" err="1">
                <a:solidFill>
                  <a:srgbClr val="010A50"/>
                </a:solidFill>
                <a:latin typeface="DejaVu Serif Bold"/>
                <a:ea typeface="DejaVu Serif Bold"/>
                <a:cs typeface="DejaVu Serif Bold"/>
                <a:sym typeface="DejaVu Serif Bold"/>
              </a:rPr>
              <a:t>είν</a:t>
            </a:r>
            <a:r>
              <a:rPr lang="en-US" sz="2728" b="1" dirty="0">
                <a:solidFill>
                  <a:srgbClr val="010A50"/>
                </a:solidFill>
                <a:latin typeface="DejaVu Serif Bold"/>
                <a:ea typeface="DejaVu Serif Bold"/>
                <a:cs typeface="DejaVu Serif Bold"/>
                <a:sym typeface="DejaVu Serif Bold"/>
              </a:rPr>
              <a:t>αι όμως το I2S;</a:t>
            </a:r>
          </a:p>
        </p:txBody>
      </p:sp>
      <p:sp>
        <p:nvSpPr>
          <p:cNvPr id="8" name="TextBox 8"/>
          <p:cNvSpPr txBox="1"/>
          <p:nvPr/>
        </p:nvSpPr>
        <p:spPr>
          <a:xfrm>
            <a:off x="1216445" y="3711525"/>
            <a:ext cx="15836059" cy="2678888"/>
          </a:xfrm>
          <a:prstGeom prst="rect">
            <a:avLst/>
          </a:prstGeom>
        </p:spPr>
        <p:txBody>
          <a:bodyPr lIns="0" tIns="0" rIns="0" bIns="0" rtlCol="0" anchor="t">
            <a:spAutoFit/>
          </a:bodyPr>
          <a:lstStyle/>
          <a:p>
            <a:pPr algn="just">
              <a:lnSpc>
                <a:spcPts val="3019"/>
              </a:lnSpc>
            </a:pPr>
            <a:r>
              <a:rPr lang="en-US" sz="2156">
                <a:solidFill>
                  <a:srgbClr val="010A50"/>
                </a:solidFill>
                <a:latin typeface="AC Soft Icecream"/>
                <a:ea typeface="AC Soft Icecream"/>
                <a:cs typeface="AC Soft Icecream"/>
                <a:sym typeface="AC Soft Icecream"/>
              </a:rPr>
              <a:t>Το συγκεκριμένο πρωτόκολλο χρησιμοποιείται για ψηφιακό ήχο μεταξύ chip και ελέγχει ένα ή ακόμα και δύο κανάλια μέσω </a:t>
            </a:r>
            <a:r>
              <a:rPr lang="en-US" sz="2156">
                <a:solidFill>
                  <a:srgbClr val="2A5D5E"/>
                </a:solidFill>
                <a:latin typeface="AC Soft Icecream"/>
                <a:ea typeface="AC Soft Icecream"/>
                <a:cs typeface="AC Soft Icecream"/>
                <a:sym typeface="AC Soft Icecream"/>
              </a:rPr>
              <a:t>ηχητικού PWM</a:t>
            </a:r>
            <a:r>
              <a:rPr lang="en-US" sz="2156">
                <a:solidFill>
                  <a:srgbClr val="010A50"/>
                </a:solidFill>
                <a:latin typeface="AC Soft Icecream"/>
                <a:ea typeface="AC Soft Icecream"/>
                <a:cs typeface="AC Soft Icecream"/>
                <a:sym typeface="AC Soft Icecream"/>
              </a:rPr>
              <a:t>. Χρησιμοποιεί ένα </a:t>
            </a:r>
            <a:r>
              <a:rPr lang="en-US" sz="2156">
                <a:solidFill>
                  <a:srgbClr val="D14725"/>
                </a:solidFill>
                <a:latin typeface="AC Soft Icecream"/>
                <a:ea typeface="AC Soft Icecream"/>
                <a:cs typeface="AC Soft Icecream"/>
                <a:sym typeface="AC Soft Icecream"/>
              </a:rPr>
              <a:t>A/D convertor</a:t>
            </a:r>
            <a:r>
              <a:rPr lang="en-US" sz="2156">
                <a:solidFill>
                  <a:srgbClr val="010A50"/>
                </a:solidFill>
                <a:latin typeface="AC Soft Icecream"/>
                <a:ea typeface="AC Soft Icecream"/>
                <a:cs typeface="AC Soft Icecream"/>
                <a:sym typeface="AC Soft Icecream"/>
              </a:rPr>
              <a:t> για την μετατροπή του αναλογικού σήματος που δέχεται στην είσοδο σε ψηφιακό σήμα στην έξοδο, του οποίου η ανάλυση καθορίζεται από τον αριθμό των bits (συνήθως μεταξύ 8-32 bits) με τον οποίο πραγματοποιείται η μετατροπή. Το ποσοστό δειγματοληψίας είναι σχεδόν διπλάσιο από την μέγιστη συχνότητα (συνθήκη Nyquist). Επίσης χρησιμοποιεί έναν </a:t>
            </a:r>
            <a:r>
              <a:rPr lang="en-US" sz="2156">
                <a:solidFill>
                  <a:srgbClr val="D14725"/>
                </a:solidFill>
                <a:latin typeface="AC Soft Icecream"/>
                <a:ea typeface="AC Soft Icecream"/>
                <a:cs typeface="AC Soft Icecream"/>
                <a:sym typeface="AC Soft Icecream"/>
              </a:rPr>
              <a:t>D/A convertor</a:t>
            </a:r>
            <a:r>
              <a:rPr lang="en-US" sz="2156">
                <a:solidFill>
                  <a:srgbClr val="010A50"/>
                </a:solidFill>
                <a:latin typeface="AC Soft Icecream"/>
                <a:ea typeface="AC Soft Icecream"/>
                <a:cs typeface="AC Soft Icecream"/>
                <a:sym typeface="AC Soft Icecream"/>
              </a:rPr>
              <a:t> για να μετατρέψει ξανά το σήμα από ψηφιακό σε αναλογικό. Τόσο στην αρχή όσο και στο τέλος αυτής της διαδικασίας το σήμα ενισχύεται μέσω κάποιου ενισχυτή τόσο στην είσοδο όσο και στην τελική έξοδο, για να φτάσει στον ακροατή</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5989955" y="2898315"/>
            <a:ext cx="7145665" cy="4490369"/>
          </a:xfrm>
          <a:custGeom>
            <a:avLst/>
            <a:gdLst/>
            <a:ahLst/>
            <a:cxnLst/>
            <a:rect l="l" t="t" r="r" b="b"/>
            <a:pathLst>
              <a:path w="7145665" h="4490369">
                <a:moveTo>
                  <a:pt x="0" y="0"/>
                </a:moveTo>
                <a:lnTo>
                  <a:pt x="7145665" y="0"/>
                </a:lnTo>
                <a:lnTo>
                  <a:pt x="7145665" y="4490370"/>
                </a:lnTo>
                <a:lnTo>
                  <a:pt x="0" y="4490370"/>
                </a:lnTo>
                <a:lnTo>
                  <a:pt x="0" y="0"/>
                </a:lnTo>
                <a:close/>
              </a:path>
            </a:pathLst>
          </a:custGeom>
          <a:blipFill>
            <a:blip r:embed="rId6"/>
            <a:stretch>
              <a:fillRect/>
            </a:stretch>
          </a:blipFill>
        </p:spPr>
      </p:sp>
      <p:sp>
        <p:nvSpPr>
          <p:cNvPr id="5" name="TextBox 5"/>
          <p:cNvSpPr txBox="1"/>
          <p:nvPr/>
        </p:nvSpPr>
        <p:spPr>
          <a:xfrm>
            <a:off x="6501854" y="95123"/>
            <a:ext cx="5284291" cy="648461"/>
          </a:xfrm>
          <a:prstGeom prst="rect">
            <a:avLst/>
          </a:prstGeom>
        </p:spPr>
        <p:txBody>
          <a:bodyPr lIns="0" tIns="0" rIns="0" bIns="0" rtlCol="0" anchor="t">
            <a:spAutoFit/>
          </a:bodyPr>
          <a:lstStyle/>
          <a:p>
            <a:pPr algn="ctr">
              <a:lnSpc>
                <a:spcPts val="5208"/>
              </a:lnSpc>
            </a:pPr>
            <a:r>
              <a:rPr lang="en-US" sz="3720" b="1">
                <a:solidFill>
                  <a:srgbClr val="010A50"/>
                </a:solidFill>
                <a:latin typeface="Noto Sans Bold"/>
                <a:ea typeface="Noto Sans Bold"/>
                <a:cs typeface="Noto Sans Bold"/>
                <a:sym typeface="Noto Sans Bold"/>
              </a:rPr>
              <a:t>INMP441 &amp; I2S SOUND</a:t>
            </a:r>
          </a:p>
        </p:txBody>
      </p:sp>
      <p:sp>
        <p:nvSpPr>
          <p:cNvPr id="6" name="TextBox 6"/>
          <p:cNvSpPr txBox="1"/>
          <p:nvPr/>
        </p:nvSpPr>
        <p:spPr>
          <a:xfrm>
            <a:off x="1225970" y="1596895"/>
            <a:ext cx="15836059" cy="1535888"/>
          </a:xfrm>
          <a:prstGeom prst="rect">
            <a:avLst/>
          </a:prstGeom>
        </p:spPr>
        <p:txBody>
          <a:bodyPr lIns="0" tIns="0" rIns="0" bIns="0" rtlCol="0" anchor="t">
            <a:spAutoFit/>
          </a:bodyPr>
          <a:lstStyle/>
          <a:p>
            <a:pPr algn="just">
              <a:lnSpc>
                <a:spcPts val="3019"/>
              </a:lnSpc>
            </a:pPr>
            <a:r>
              <a:rPr lang="en-US" sz="2156">
                <a:solidFill>
                  <a:srgbClr val="010A50"/>
                </a:solidFill>
                <a:latin typeface="AC Soft Icecream"/>
                <a:ea typeface="AC Soft Icecream"/>
                <a:cs typeface="AC Soft Icecream"/>
                <a:sym typeface="AC Soft Icecream"/>
              </a:rPr>
              <a:t>Το INMP441 μικρόφωνο πλεονεκτεί έναντι άλλων, μιας και έχει </a:t>
            </a:r>
            <a:r>
              <a:rPr lang="en-US" sz="2156">
                <a:solidFill>
                  <a:srgbClr val="2A5D5E"/>
                </a:solidFill>
                <a:latin typeface="AC Soft Icecream"/>
                <a:ea typeface="AC Soft Icecream"/>
                <a:cs typeface="AC Soft Icecream"/>
                <a:sym typeface="AC Soft Icecream"/>
              </a:rPr>
              <a:t>καλή σταθερότητα</a:t>
            </a:r>
            <a:r>
              <a:rPr lang="en-US" sz="2156">
                <a:solidFill>
                  <a:srgbClr val="010A50"/>
                </a:solidFill>
                <a:latin typeface="AC Soft Icecream"/>
                <a:ea typeface="AC Soft Icecream"/>
                <a:cs typeface="AC Soft Icecream"/>
                <a:sym typeface="AC Soft Icecream"/>
              </a:rPr>
              <a:t>, </a:t>
            </a:r>
            <a:r>
              <a:rPr lang="en-US" sz="2156">
                <a:solidFill>
                  <a:srgbClr val="2A5D5E"/>
                </a:solidFill>
                <a:latin typeface="AC Soft Icecream"/>
                <a:ea typeface="AC Soft Icecream"/>
                <a:cs typeface="AC Soft Icecream"/>
                <a:sym typeface="AC Soft Icecream"/>
              </a:rPr>
              <a:t>μειώνει παρεμβολές από τα αναλογικά σήματα που δέχεται</a:t>
            </a:r>
            <a:r>
              <a:rPr lang="en-US" sz="2156">
                <a:solidFill>
                  <a:srgbClr val="010A50"/>
                </a:solidFill>
                <a:latin typeface="AC Soft Icecream"/>
                <a:ea typeface="AC Soft Icecream"/>
                <a:cs typeface="AC Soft Icecream"/>
                <a:sym typeface="AC Soft Icecream"/>
              </a:rPr>
              <a:t> και έχει </a:t>
            </a:r>
            <a:r>
              <a:rPr lang="en-US" sz="2156">
                <a:solidFill>
                  <a:srgbClr val="2A5D5E"/>
                </a:solidFill>
                <a:latin typeface="AC Soft Icecream"/>
                <a:ea typeface="AC Soft Icecream"/>
                <a:cs typeface="AC Soft Icecream"/>
                <a:sym typeface="AC Soft Icecream"/>
              </a:rPr>
              <a:t>μικρό σχετικά θόρυβο</a:t>
            </a:r>
            <a:r>
              <a:rPr lang="en-US" sz="2156">
                <a:solidFill>
                  <a:srgbClr val="010A50"/>
                </a:solidFill>
                <a:latin typeface="AC Soft Icecream"/>
                <a:ea typeface="AC Soft Icecream"/>
                <a:cs typeface="AC Soft Icecream"/>
                <a:sym typeface="AC Soft Icecream"/>
              </a:rPr>
              <a:t>. Διαθέτει ένα αρκετά </a:t>
            </a:r>
            <a:r>
              <a:rPr lang="en-US" sz="2156">
                <a:solidFill>
                  <a:srgbClr val="2A5D5E"/>
                </a:solidFill>
                <a:latin typeface="AC Soft Icecream"/>
                <a:ea typeface="AC Soft Icecream"/>
                <a:cs typeface="AC Soft Icecream"/>
                <a:sym typeface="AC Soft Icecream"/>
              </a:rPr>
              <a:t>καλό λόγο σήματος προς θόρυβο (SNR) στα 61dB</a:t>
            </a:r>
            <a:r>
              <a:rPr lang="en-US" sz="2156">
                <a:solidFill>
                  <a:srgbClr val="010A50"/>
                </a:solidFill>
                <a:latin typeface="AC Soft Icecream"/>
                <a:ea typeface="AC Soft Icecream"/>
                <a:cs typeface="AC Soft Icecream"/>
                <a:sym typeface="AC Soft Icecream"/>
              </a:rPr>
              <a:t>, η </a:t>
            </a:r>
            <a:r>
              <a:rPr lang="en-US" sz="2156">
                <a:solidFill>
                  <a:srgbClr val="2A5D5E"/>
                </a:solidFill>
                <a:latin typeface="AC Soft Icecream"/>
                <a:ea typeface="AC Soft Icecream"/>
                <a:cs typeface="AC Soft Icecream"/>
                <a:sym typeface="AC Soft Icecream"/>
              </a:rPr>
              <a:t>συχνότητα απόκρισής</a:t>
            </a:r>
            <a:r>
              <a:rPr lang="en-US" sz="2156">
                <a:solidFill>
                  <a:srgbClr val="010A50"/>
                </a:solidFill>
                <a:latin typeface="AC Soft Icecream"/>
                <a:ea typeface="AC Soft Icecream"/>
                <a:cs typeface="AC Soft Icecream"/>
                <a:sym typeface="AC Soft Icecream"/>
              </a:rPr>
              <a:t> του κυμαίνεται </a:t>
            </a:r>
            <a:r>
              <a:rPr lang="en-US" sz="2156">
                <a:solidFill>
                  <a:srgbClr val="2A5D5E"/>
                </a:solidFill>
                <a:latin typeface="AC Soft Icecream"/>
                <a:ea typeface="AC Soft Icecream"/>
                <a:cs typeface="AC Soft Icecream"/>
                <a:sym typeface="AC Soft Icecream"/>
              </a:rPr>
              <a:t>από 60 Hz έως 15kHz</a:t>
            </a:r>
            <a:r>
              <a:rPr lang="en-US" sz="2156">
                <a:solidFill>
                  <a:srgbClr val="010A50"/>
                </a:solidFill>
                <a:latin typeface="AC Soft Icecream"/>
                <a:ea typeface="AC Soft Icecream"/>
                <a:cs typeface="AC Soft Icecream"/>
                <a:sym typeface="AC Soft Icecream"/>
              </a:rPr>
              <a:t>.</a:t>
            </a:r>
          </a:p>
          <a:p>
            <a:pPr algn="just">
              <a:lnSpc>
                <a:spcPts val="3019"/>
              </a:lnSpc>
            </a:pPr>
            <a:endParaRPr lang="en-US" sz="2156">
              <a:solidFill>
                <a:srgbClr val="010A50"/>
              </a:solidFill>
              <a:latin typeface="AC Soft Icecream"/>
              <a:ea typeface="AC Soft Icecream"/>
              <a:cs typeface="AC Soft Icecream"/>
              <a:sym typeface="AC Soft Icecream"/>
            </a:endParaRPr>
          </a:p>
        </p:txBody>
      </p:sp>
      <p:sp>
        <p:nvSpPr>
          <p:cNvPr id="7" name="TextBox 7"/>
          <p:cNvSpPr txBox="1"/>
          <p:nvPr/>
        </p:nvSpPr>
        <p:spPr>
          <a:xfrm>
            <a:off x="1423241" y="7722412"/>
            <a:ext cx="15836059" cy="1535888"/>
          </a:xfrm>
          <a:prstGeom prst="rect">
            <a:avLst/>
          </a:prstGeom>
        </p:spPr>
        <p:txBody>
          <a:bodyPr lIns="0" tIns="0" rIns="0" bIns="0" rtlCol="0" anchor="t">
            <a:spAutoFit/>
          </a:bodyPr>
          <a:lstStyle/>
          <a:p>
            <a:pPr algn="just">
              <a:lnSpc>
                <a:spcPts val="3019"/>
              </a:lnSpc>
            </a:pPr>
            <a:r>
              <a:rPr lang="en-US" sz="2156">
                <a:solidFill>
                  <a:srgbClr val="010A50"/>
                </a:solidFill>
                <a:latin typeface="AC Soft Icecream"/>
                <a:ea typeface="AC Soft Icecream"/>
                <a:cs typeface="AC Soft Icecream"/>
                <a:sym typeface="AC Soft Icecream"/>
              </a:rPr>
              <a:t>Εδώ μπορούμε να δούμε η μέθοδος της συμπίεσης «κόβει» τις πολύ υψηλές εντάσεις που παρατηρούνται κατά την ομιλία μας. Από την άλλη τα πιο χαμηλά σημεία της ομιλίας μας έχουν «περιοριστεί» - κρατηθεί – πιο κοντά στο μέσο επίπεδο. Για αυτό και το σήμα μας δείχνει πιο ομαλό και ισορροπημένο (κίτρινη κυματομορφή).</a:t>
            </a:r>
          </a:p>
          <a:p>
            <a:pPr algn="just">
              <a:lnSpc>
                <a:spcPts val="3019"/>
              </a:lnSpc>
            </a:pPr>
            <a:endParaRPr lang="en-US" sz="2156">
              <a:solidFill>
                <a:srgbClr val="010A50"/>
              </a:solidFill>
              <a:latin typeface="AC Soft Icecream"/>
              <a:ea typeface="AC Soft Icecream"/>
              <a:cs typeface="AC Soft Icecream"/>
              <a:sym typeface="AC Soft Icecream"/>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4131" y="2194485"/>
            <a:ext cx="7884601" cy="5568499"/>
          </a:xfrm>
          <a:custGeom>
            <a:avLst/>
            <a:gdLst/>
            <a:ahLst/>
            <a:cxnLst/>
            <a:rect l="l" t="t" r="r" b="b"/>
            <a:pathLst>
              <a:path w="7884601" h="5568499">
                <a:moveTo>
                  <a:pt x="0" y="0"/>
                </a:moveTo>
                <a:lnTo>
                  <a:pt x="7884601" y="0"/>
                </a:lnTo>
                <a:lnTo>
                  <a:pt x="7884601" y="5568500"/>
                </a:lnTo>
                <a:lnTo>
                  <a:pt x="0" y="5568500"/>
                </a:lnTo>
                <a:lnTo>
                  <a:pt x="0" y="0"/>
                </a:lnTo>
                <a:close/>
              </a:path>
            </a:pathLst>
          </a:custGeom>
          <a:blipFill>
            <a:blip r:embed="rId2"/>
            <a:stretch>
              <a:fillRect/>
            </a:stretch>
          </a:blipFill>
        </p:spPr>
      </p:sp>
      <p:sp>
        <p:nvSpPr>
          <p:cNvPr id="3" name="Freeform 3"/>
          <p:cNvSpPr/>
          <p:nvPr/>
        </p:nvSpPr>
        <p:spPr>
          <a:xfrm>
            <a:off x="9144000" y="2194485"/>
            <a:ext cx="8115300" cy="5568499"/>
          </a:xfrm>
          <a:custGeom>
            <a:avLst/>
            <a:gdLst/>
            <a:ahLst/>
            <a:cxnLst/>
            <a:rect l="l" t="t" r="r" b="b"/>
            <a:pathLst>
              <a:path w="8115300" h="5568499">
                <a:moveTo>
                  <a:pt x="0" y="0"/>
                </a:moveTo>
                <a:lnTo>
                  <a:pt x="8115300" y="0"/>
                </a:lnTo>
                <a:lnTo>
                  <a:pt x="8115300" y="5568500"/>
                </a:lnTo>
                <a:lnTo>
                  <a:pt x="0" y="5568500"/>
                </a:lnTo>
                <a:lnTo>
                  <a:pt x="0" y="0"/>
                </a:lnTo>
                <a:close/>
              </a:path>
            </a:pathLst>
          </a:custGeom>
          <a:blipFill>
            <a:blip r:embed="rId3"/>
            <a:stretch>
              <a:fillRect t="-1554" b="-1554"/>
            </a:stretch>
          </a:blipFill>
        </p:spPr>
      </p:sp>
      <p:sp>
        <p:nvSpPr>
          <p:cNvPr id="4" name="TextBox 4"/>
          <p:cNvSpPr txBox="1"/>
          <p:nvPr/>
        </p:nvSpPr>
        <p:spPr>
          <a:xfrm>
            <a:off x="6571158" y="104648"/>
            <a:ext cx="5145683" cy="671956"/>
          </a:xfrm>
          <a:prstGeom prst="rect">
            <a:avLst/>
          </a:prstGeom>
        </p:spPr>
        <p:txBody>
          <a:bodyPr lIns="0" tIns="0" rIns="0" bIns="0" rtlCol="0" anchor="t">
            <a:spAutoFit/>
          </a:bodyPr>
          <a:lstStyle/>
          <a:p>
            <a:pPr algn="ctr">
              <a:lnSpc>
                <a:spcPts val="5488"/>
              </a:lnSpc>
            </a:pPr>
            <a:r>
              <a:rPr lang="en-US" sz="3920" b="1">
                <a:solidFill>
                  <a:srgbClr val="010A50"/>
                </a:solidFill>
                <a:latin typeface="Noto Sans Bold"/>
                <a:ea typeface="Noto Sans Bold"/>
                <a:cs typeface="Noto Sans Bold"/>
                <a:sym typeface="Noto Sans Bold"/>
              </a:rPr>
              <a:t>OUR FINAL CIRCUITS</a:t>
            </a:r>
          </a:p>
        </p:txBody>
      </p:sp>
      <p:sp>
        <p:nvSpPr>
          <p:cNvPr id="5" name="TextBox 5"/>
          <p:cNvSpPr txBox="1"/>
          <p:nvPr/>
        </p:nvSpPr>
        <p:spPr>
          <a:xfrm>
            <a:off x="509319" y="1540293"/>
            <a:ext cx="1831022" cy="392888"/>
          </a:xfrm>
          <a:prstGeom prst="rect">
            <a:avLst/>
          </a:prstGeom>
        </p:spPr>
        <p:txBody>
          <a:bodyPr lIns="0" tIns="0" rIns="0" bIns="0" rtlCol="0" anchor="t">
            <a:spAutoFit/>
          </a:bodyPr>
          <a:lstStyle/>
          <a:p>
            <a:pPr algn="just">
              <a:lnSpc>
                <a:spcPts val="3019"/>
              </a:lnSpc>
            </a:pPr>
            <a:r>
              <a:rPr lang="en-US" sz="2156">
                <a:solidFill>
                  <a:srgbClr val="010A50"/>
                </a:solidFill>
                <a:latin typeface="AC Soft Icecream"/>
                <a:ea typeface="AC Soft Icecream"/>
                <a:cs typeface="AC Soft Icecream"/>
                <a:sym typeface="AC Soft Icecream"/>
              </a:rPr>
              <a:t>Αποστολέας</a:t>
            </a:r>
          </a:p>
        </p:txBody>
      </p:sp>
      <p:sp>
        <p:nvSpPr>
          <p:cNvPr id="6" name="TextBox 6"/>
          <p:cNvSpPr txBox="1"/>
          <p:nvPr/>
        </p:nvSpPr>
        <p:spPr>
          <a:xfrm>
            <a:off x="9144000" y="1540293"/>
            <a:ext cx="1831022" cy="392888"/>
          </a:xfrm>
          <a:prstGeom prst="rect">
            <a:avLst/>
          </a:prstGeom>
        </p:spPr>
        <p:txBody>
          <a:bodyPr lIns="0" tIns="0" rIns="0" bIns="0" rtlCol="0" anchor="t">
            <a:spAutoFit/>
          </a:bodyPr>
          <a:lstStyle/>
          <a:p>
            <a:pPr algn="just">
              <a:lnSpc>
                <a:spcPts val="3019"/>
              </a:lnSpc>
            </a:pPr>
            <a:r>
              <a:rPr lang="en-US" sz="2156">
                <a:solidFill>
                  <a:srgbClr val="010A50"/>
                </a:solidFill>
                <a:latin typeface="AC Soft Icecream"/>
                <a:ea typeface="AC Soft Icecream"/>
                <a:cs typeface="AC Soft Icecream"/>
                <a:sym typeface="AC Soft Icecream"/>
              </a:rPr>
              <a:t>Robot</a:t>
            </a:r>
          </a:p>
        </p:txBody>
      </p:sp>
      <p:sp>
        <p:nvSpPr>
          <p:cNvPr id="7" name="Freeform 7"/>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665330" y="292694"/>
            <a:ext cx="4957340" cy="1359346"/>
          </a:xfrm>
          <a:prstGeom prst="rect">
            <a:avLst/>
          </a:prstGeom>
        </p:spPr>
        <p:txBody>
          <a:bodyPr wrap="square" lIns="0" tIns="0" rIns="0" bIns="0" rtlCol="0" anchor="t">
            <a:spAutoFit/>
          </a:bodyPr>
          <a:lstStyle/>
          <a:p>
            <a:pPr algn="ctr">
              <a:lnSpc>
                <a:spcPts val="5348"/>
              </a:lnSpc>
            </a:pPr>
            <a:r>
              <a:rPr lang="en-US" sz="4800" b="1" dirty="0">
                <a:solidFill>
                  <a:srgbClr val="010A50"/>
                </a:solidFill>
                <a:latin typeface="Noto Sans Bold"/>
                <a:ea typeface="Noto Sans Bold"/>
                <a:cs typeface="Noto Sans Bold"/>
                <a:sym typeface="Noto Sans Bold"/>
              </a:rPr>
              <a:t>OUR  OBSERVATIONS</a:t>
            </a:r>
          </a:p>
        </p:txBody>
      </p:sp>
      <p:sp>
        <p:nvSpPr>
          <p:cNvPr id="3" name="Freeform 3"/>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TextBox 5"/>
          <p:cNvSpPr txBox="1"/>
          <p:nvPr/>
        </p:nvSpPr>
        <p:spPr>
          <a:xfrm>
            <a:off x="1028700" y="1795730"/>
            <a:ext cx="16230600" cy="6520003"/>
          </a:xfrm>
          <a:prstGeom prst="rect">
            <a:avLst/>
          </a:prstGeom>
        </p:spPr>
        <p:txBody>
          <a:bodyPr lIns="0" tIns="0" rIns="0" bIns="0" rtlCol="0" anchor="t">
            <a:spAutoFit/>
          </a:bodyPr>
          <a:lstStyle/>
          <a:p>
            <a:pPr algn="just">
              <a:lnSpc>
                <a:spcPts val="2879"/>
              </a:lnSpc>
            </a:pPr>
            <a:r>
              <a:rPr lang="en-US" sz="2056" dirty="0">
                <a:solidFill>
                  <a:srgbClr val="010A50"/>
                </a:solidFill>
                <a:latin typeface="AC Soft Icecream"/>
                <a:ea typeface="AC Soft Icecream"/>
                <a:cs typeface="AC Soft Icecream"/>
                <a:sym typeface="AC Soft Icecream"/>
              </a:rPr>
              <a:t>Κα</a:t>
            </a:r>
            <a:r>
              <a:rPr lang="en-US" sz="2056" dirty="0" err="1">
                <a:solidFill>
                  <a:srgbClr val="010A50"/>
                </a:solidFill>
                <a:latin typeface="AC Soft Icecream"/>
                <a:ea typeface="AC Soft Icecream"/>
                <a:cs typeface="AC Soft Icecream"/>
                <a:sym typeface="AC Soft Icecream"/>
              </a:rPr>
              <a:t>τά</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την</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υλο</a:t>
            </a:r>
            <a:r>
              <a:rPr lang="en-US" sz="2056" dirty="0">
                <a:solidFill>
                  <a:srgbClr val="010A50"/>
                </a:solidFill>
                <a:latin typeface="AC Soft Icecream"/>
                <a:ea typeface="AC Soft Icecream"/>
                <a:cs typeface="AC Soft Icecream"/>
                <a:sym typeface="AC Soft Icecream"/>
              </a:rPr>
              <a:t>ποίηση του project μας ήρθαμε αντιμέτωποι με κάποια -κυρίως τεχνικά- προβλήματα, τα οποία αφορούσαν τη διασύνδεση της VRM με την ESP32. </a:t>
            </a:r>
            <a:r>
              <a:rPr lang="en-US" sz="2056" dirty="0" err="1">
                <a:solidFill>
                  <a:srgbClr val="010A50"/>
                </a:solidFill>
                <a:latin typeface="AC Soft Icecream"/>
                <a:ea typeface="AC Soft Icecream"/>
                <a:cs typeface="AC Soft Icecream"/>
                <a:sym typeface="AC Soft Icecream"/>
              </a:rPr>
              <a:t>Συγκεκριμέν</a:t>
            </a:r>
            <a:r>
              <a:rPr lang="en-US" sz="2056" dirty="0">
                <a:solidFill>
                  <a:srgbClr val="010A50"/>
                </a:solidFill>
                <a:latin typeface="AC Soft Icecream"/>
                <a:ea typeface="AC Soft Icecream"/>
                <a:cs typeface="AC Soft Icecream"/>
                <a:sym typeface="AC Soft Icecream"/>
              </a:rPr>
              <a:t>α:</a:t>
            </a:r>
          </a:p>
          <a:p>
            <a:pPr marL="444100" lvl="1" indent="-222050" algn="just">
              <a:lnSpc>
                <a:spcPts val="2879"/>
              </a:lnSpc>
              <a:buFont typeface="Arial"/>
              <a:buChar char="•"/>
            </a:pPr>
            <a:r>
              <a:rPr lang="en-US" sz="2056" dirty="0" err="1">
                <a:solidFill>
                  <a:srgbClr val="D14725"/>
                </a:solidFill>
                <a:latin typeface="AC Soft Icecream"/>
                <a:ea typeface="AC Soft Icecream"/>
                <a:cs typeface="AC Soft Icecream"/>
                <a:sym typeface="AC Soft Icecream"/>
              </a:rPr>
              <a:t>Δι</a:t>
            </a:r>
            <a:r>
              <a:rPr lang="en-US" sz="2056" dirty="0">
                <a:solidFill>
                  <a:srgbClr val="D14725"/>
                </a:solidFill>
                <a:latin typeface="AC Soft Icecream"/>
                <a:ea typeface="AC Soft Icecream"/>
                <a:cs typeface="AC Soft Icecream"/>
                <a:sym typeface="AC Soft Icecream"/>
              </a:rPr>
              <a:t>αιρέτης τάσης για λειτουργία στα 5V</a:t>
            </a:r>
            <a:r>
              <a:rPr lang="en-US" sz="2056" dirty="0">
                <a:solidFill>
                  <a:srgbClr val="010A50"/>
                </a:solidFill>
                <a:latin typeface="AC Soft Icecream"/>
                <a:ea typeface="AC Soft Icecream"/>
                <a:cs typeface="AC Soft Icecream"/>
                <a:sym typeface="AC Soft Icecream"/>
              </a:rPr>
              <a:t>: Επειδή στην αρχή τροφοδοτούσαμε την VRMV3 στα 5V, χρειάστηκε να φτιάξουμε ένα </a:t>
            </a:r>
            <a:r>
              <a:rPr lang="en-US" sz="2056" dirty="0">
                <a:solidFill>
                  <a:srgbClr val="2A5D5E"/>
                </a:solidFill>
                <a:latin typeface="AC Soft Icecream"/>
                <a:ea typeface="AC Soft Icecream"/>
                <a:cs typeface="AC Soft Icecream"/>
                <a:sym typeface="AC Soft Icecream"/>
              </a:rPr>
              <a:t>διαιρέτη τάσης </a:t>
            </a:r>
            <a:r>
              <a:rPr lang="en-US" sz="2056" dirty="0">
                <a:solidFill>
                  <a:srgbClr val="010A50"/>
                </a:solidFill>
                <a:latin typeface="AC Soft Icecream"/>
                <a:ea typeface="AC Soft Icecream"/>
                <a:cs typeface="AC Soft Icecream"/>
                <a:sym typeface="AC Soft Icecream"/>
              </a:rPr>
              <a:t>με τον οποίο κατεβάζαμε την τάση στα 3.3V για τα pins της ESP32-S3, μιας και τα pin των ESP32 λειτουργούν </a:t>
            </a:r>
            <a:r>
              <a:rPr lang="en-US" sz="2056" dirty="0">
                <a:solidFill>
                  <a:srgbClr val="2A5D5E"/>
                </a:solidFill>
                <a:latin typeface="AC Soft Icecream"/>
                <a:ea typeface="AC Soft Icecream"/>
                <a:cs typeface="AC Soft Icecream"/>
                <a:sym typeface="AC Soft Icecream"/>
              </a:rPr>
              <a:t>μόνο στα 3.3V</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Εν</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τέλει</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όμως</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μετά</a:t>
            </a:r>
            <a:r>
              <a:rPr lang="en-US" sz="2056" dirty="0">
                <a:solidFill>
                  <a:srgbClr val="010A50"/>
                </a:solidFill>
                <a:latin typeface="AC Soft Icecream"/>
                <a:ea typeface="AC Soft Icecream"/>
                <a:cs typeface="AC Soft Icecream"/>
                <a:sym typeface="AC Soft Icecream"/>
              </a:rPr>
              <a:t> από </a:t>
            </a:r>
            <a:r>
              <a:rPr lang="en-US" sz="2056" dirty="0" err="1">
                <a:solidFill>
                  <a:srgbClr val="010A50"/>
                </a:solidFill>
                <a:latin typeface="AC Soft Icecream"/>
                <a:ea typeface="AC Soft Icecream"/>
                <a:cs typeface="AC Soft Icecream"/>
                <a:sym typeface="AC Soft Icecream"/>
              </a:rPr>
              <a:t>δοκιμές</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είδ</a:t>
            </a:r>
            <a:r>
              <a:rPr lang="en-US" sz="2056" dirty="0">
                <a:solidFill>
                  <a:srgbClr val="010A50"/>
                </a:solidFill>
                <a:latin typeface="AC Soft Icecream"/>
                <a:ea typeface="AC Soft Icecream"/>
                <a:cs typeface="AC Soft Icecream"/>
                <a:sym typeface="AC Soft Icecream"/>
              </a:rPr>
              <a:t>αμε ότι το project λειτουργούσε πολύ καλά στα 3.3V και χωρίς αυτόν. </a:t>
            </a:r>
            <a:r>
              <a:rPr lang="en-US" sz="2056" dirty="0" err="1">
                <a:solidFill>
                  <a:srgbClr val="010A50"/>
                </a:solidFill>
                <a:latin typeface="AC Soft Icecream"/>
                <a:ea typeface="AC Soft Icecream"/>
                <a:cs typeface="AC Soft Icecream"/>
                <a:sym typeface="AC Soft Icecream"/>
              </a:rPr>
              <a:t>Γι</a:t>
            </a:r>
            <a:r>
              <a:rPr lang="en-US" sz="2056" dirty="0">
                <a:solidFill>
                  <a:srgbClr val="010A50"/>
                </a:solidFill>
                <a:latin typeface="AC Soft Icecream"/>
                <a:ea typeface="AC Soft Icecream"/>
                <a:cs typeface="AC Soft Icecream"/>
                <a:sym typeface="AC Soft Icecream"/>
              </a:rPr>
              <a:t>α τον διαιρέτη τάσης χρησιμοποιήσαμε δύο αντιστάσεις των 10kΩ και 4.7kΩ αντίστοιχα μεταξύ του πομπού της VRM V3 και του δέκτη της ESP32-S3. </a:t>
            </a:r>
          </a:p>
          <a:p>
            <a:pPr marL="444100" lvl="1" indent="-222050" algn="just">
              <a:lnSpc>
                <a:spcPts val="2879"/>
              </a:lnSpc>
              <a:buFont typeface="Arial"/>
              <a:buChar char="•"/>
            </a:pPr>
            <a:r>
              <a:rPr lang="en-US" sz="2056" dirty="0">
                <a:solidFill>
                  <a:srgbClr val="D14725"/>
                </a:solidFill>
                <a:latin typeface="AC Soft Icecream"/>
                <a:ea typeface="AC Soft Icecream"/>
                <a:cs typeface="AC Soft Icecream"/>
                <a:sym typeface="AC Soft Icecream"/>
              </a:rPr>
              <a:t>Κα</a:t>
            </a:r>
            <a:r>
              <a:rPr lang="en-US" sz="2056" dirty="0" err="1">
                <a:solidFill>
                  <a:srgbClr val="D14725"/>
                </a:solidFill>
                <a:latin typeface="AC Soft Icecream"/>
                <a:ea typeface="AC Soft Icecream"/>
                <a:cs typeface="AC Soft Icecream"/>
                <a:sym typeface="AC Soft Icecream"/>
              </a:rPr>
              <a:t>κή</a:t>
            </a:r>
            <a:r>
              <a:rPr lang="en-US" sz="2056" dirty="0">
                <a:solidFill>
                  <a:srgbClr val="D14725"/>
                </a:solidFill>
                <a:latin typeface="AC Soft Icecream"/>
                <a:ea typeface="AC Soft Icecream"/>
                <a:cs typeface="AC Soft Icecream"/>
                <a:sym typeface="AC Soft Icecream"/>
              </a:rPr>
              <a:t> π</a:t>
            </a:r>
            <a:r>
              <a:rPr lang="en-US" sz="2056" dirty="0" err="1">
                <a:solidFill>
                  <a:srgbClr val="D14725"/>
                </a:solidFill>
                <a:latin typeface="AC Soft Icecream"/>
                <a:ea typeface="AC Soft Icecream"/>
                <a:cs typeface="AC Soft Icecream"/>
                <a:sym typeface="AC Soft Icecream"/>
              </a:rPr>
              <a:t>ρώτη</a:t>
            </a:r>
            <a:r>
              <a:rPr lang="en-US" sz="2056" dirty="0">
                <a:solidFill>
                  <a:srgbClr val="D14725"/>
                </a:solidFill>
                <a:latin typeface="AC Soft Icecream"/>
                <a:ea typeface="AC Soft Icecream"/>
                <a:cs typeface="AC Soft Icecream"/>
                <a:sym typeface="AC Soft Icecream"/>
              </a:rPr>
              <a:t> βιβ</a:t>
            </a:r>
            <a:r>
              <a:rPr lang="en-US" sz="2056" dirty="0" err="1">
                <a:solidFill>
                  <a:srgbClr val="D14725"/>
                </a:solidFill>
                <a:latin typeface="AC Soft Icecream"/>
                <a:ea typeface="AC Soft Icecream"/>
                <a:cs typeface="AC Soft Icecream"/>
                <a:sym typeface="AC Soft Icecream"/>
              </a:rPr>
              <a:t>λιοθήκη</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Το</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μεγ</a:t>
            </a:r>
            <a:r>
              <a:rPr lang="en-US" sz="2056" dirty="0">
                <a:solidFill>
                  <a:srgbClr val="010A50"/>
                </a:solidFill>
                <a:latin typeface="AC Soft Icecream"/>
                <a:ea typeface="AC Soft Icecream"/>
                <a:cs typeface="AC Soft Icecream"/>
                <a:sym typeface="AC Soft Icecream"/>
              </a:rPr>
              <a:t>αλύτερό μας πρόβλημα που αντιμετωπίσαμε είναι ότι η βιβλιοθήκη που χρειαζόμασταν τόσο για την προπόνηση της VRMόσο και για το κομμάτι της αναγνώρισης ήταν πολύ «κακοφτιαγμένη», σε σημείο που κατά την εγκατάστασή της από το GitHub και την κλήση της στον κώδικά μας μέσω του Arduino IDE, δεν αναγνωριζόταν (ήταν σαν να μην υπήρχε). </a:t>
            </a:r>
            <a:r>
              <a:rPr lang="en-US" sz="2056" dirty="0" err="1">
                <a:solidFill>
                  <a:srgbClr val="010A50"/>
                </a:solidFill>
                <a:latin typeface="AC Soft Icecream"/>
                <a:ea typeface="AC Soft Icecream"/>
                <a:cs typeface="AC Soft Icecream"/>
                <a:sym typeface="AC Soft Icecream"/>
              </a:rPr>
              <a:t>Δεν</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έφτ</a:t>
            </a:r>
            <a:r>
              <a:rPr lang="en-US" sz="2056" dirty="0">
                <a:solidFill>
                  <a:srgbClr val="010A50"/>
                </a:solidFill>
                <a:latin typeface="AC Soft Icecream"/>
                <a:ea typeface="AC Soft Icecream"/>
                <a:cs typeface="AC Soft Icecream"/>
                <a:sym typeface="AC Soft Icecream"/>
              </a:rPr>
              <a:t>αιγε το pathστον υπολογιστή μας στο οποίο είχε αποθηκευτεί αλλά το ότι της έλλειπαν κάποια πολύ σημαντικά αρχεία στα οποία αναφέρονταν οι πολύ σημαντικές πληροφορίες για αυτή την βιβλιοθήκη. </a:t>
            </a:r>
            <a:r>
              <a:rPr lang="en-US" sz="2056" dirty="0" err="1">
                <a:solidFill>
                  <a:srgbClr val="010A50"/>
                </a:solidFill>
                <a:latin typeface="AC Soft Icecream"/>
                <a:ea typeface="AC Soft Icecream"/>
                <a:cs typeface="AC Soft Icecream"/>
                <a:sym typeface="AC Soft Icecream"/>
              </a:rPr>
              <a:t>Φτάσ</a:t>
            </a:r>
            <a:r>
              <a:rPr lang="en-US" sz="2056" dirty="0">
                <a:solidFill>
                  <a:srgbClr val="010A50"/>
                </a:solidFill>
                <a:latin typeface="AC Soft Icecream"/>
                <a:ea typeface="AC Soft Icecream"/>
                <a:cs typeface="AC Soft Icecream"/>
                <a:sym typeface="AC Soft Icecream"/>
              </a:rPr>
              <a:t>αμε στο σημείο να φτιάχνουμε μόνοι μας αυτά τα αρχεία και να τα αποθηκεύαμε στους κατάλληλους φακέλους της βιβλιοθήκης αλλά και πάλι… </a:t>
            </a:r>
          </a:p>
          <a:p>
            <a:pPr marL="444100" lvl="1" indent="-222050" algn="just">
              <a:lnSpc>
                <a:spcPts val="2879"/>
              </a:lnSpc>
              <a:buFont typeface="Arial"/>
              <a:buChar char="•"/>
            </a:pPr>
            <a:r>
              <a:rPr lang="en-US" sz="2056" dirty="0" err="1">
                <a:solidFill>
                  <a:srgbClr val="D14725"/>
                </a:solidFill>
                <a:latin typeface="AC Soft Icecream"/>
                <a:ea typeface="AC Soft Icecream"/>
                <a:cs typeface="AC Soft Icecream"/>
                <a:sym typeface="AC Soft Icecream"/>
              </a:rPr>
              <a:t>Δύο</a:t>
            </a:r>
            <a:r>
              <a:rPr lang="en-US" sz="2056" dirty="0">
                <a:solidFill>
                  <a:srgbClr val="D14725"/>
                </a:solidFill>
                <a:latin typeface="AC Soft Icecream"/>
                <a:ea typeface="AC Soft Icecream"/>
                <a:cs typeface="AC Soft Icecream"/>
                <a:sym typeface="AC Soft Icecream"/>
              </a:rPr>
              <a:t> </a:t>
            </a:r>
            <a:r>
              <a:rPr lang="en-US" sz="2056" dirty="0" err="1">
                <a:solidFill>
                  <a:srgbClr val="D14725"/>
                </a:solidFill>
                <a:latin typeface="AC Soft Icecream"/>
                <a:ea typeface="AC Soft Icecream"/>
                <a:cs typeface="AC Soft Icecream"/>
                <a:sym typeface="AC Soft Icecream"/>
              </a:rPr>
              <a:t>ξεχωριστές</a:t>
            </a:r>
            <a:r>
              <a:rPr lang="en-US" sz="2056" dirty="0">
                <a:solidFill>
                  <a:srgbClr val="D14725"/>
                </a:solidFill>
                <a:latin typeface="AC Soft Icecream"/>
                <a:ea typeface="AC Soft Icecream"/>
                <a:cs typeface="AC Soft Icecream"/>
                <a:sym typeface="AC Soft Icecream"/>
              </a:rPr>
              <a:t> βιβ</a:t>
            </a:r>
            <a:r>
              <a:rPr lang="en-US" sz="2056" dirty="0" err="1">
                <a:solidFill>
                  <a:srgbClr val="D14725"/>
                </a:solidFill>
                <a:latin typeface="AC Soft Icecream"/>
                <a:ea typeface="AC Soft Icecream"/>
                <a:cs typeface="AC Soft Icecream"/>
                <a:sym typeface="AC Soft Icecream"/>
              </a:rPr>
              <a:t>λιοθήκες</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Ως</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συνέχει</a:t>
            </a:r>
            <a:r>
              <a:rPr lang="en-US" sz="2056" dirty="0">
                <a:solidFill>
                  <a:srgbClr val="010A50"/>
                </a:solidFill>
                <a:latin typeface="AC Soft Icecream"/>
                <a:ea typeface="AC Soft Icecream"/>
                <a:cs typeface="AC Soft Icecream"/>
                <a:sym typeface="AC Soft Icecream"/>
              </a:rPr>
              <a:t>α του προηγούμενου προβλήματος, μετά από αρκετό καιρό ψαξίματος εν τέλει βρήκαμε ότι υπάρχουν δύο ακόμη βιβλιοθήκες με τις οποίες μπορούσαμε να δουλέψουμε. Η </a:t>
            </a:r>
            <a:r>
              <a:rPr lang="en-US" sz="2056" dirty="0" err="1">
                <a:solidFill>
                  <a:srgbClr val="010A50"/>
                </a:solidFill>
                <a:latin typeface="AC Soft Icecream"/>
                <a:ea typeface="AC Soft Icecream"/>
                <a:cs typeface="AC Soft Icecream"/>
                <a:sym typeface="AC Soft Icecream"/>
              </a:rPr>
              <a:t>μί</a:t>
            </a:r>
            <a:r>
              <a:rPr lang="en-US" sz="2056" dirty="0">
                <a:solidFill>
                  <a:srgbClr val="010A50"/>
                </a:solidFill>
                <a:latin typeface="AC Soft Icecream"/>
                <a:ea typeface="AC Soft Icecream"/>
                <a:cs typeface="AC Soft Icecream"/>
                <a:sym typeface="AC Soft Icecream"/>
              </a:rPr>
              <a:t>α βιβλιοθήκη χρειαζόταν για την προπόνηση της πλακέτας και η άλλη για την διασύνδεση της πλακέτας με την ESP32. Και α</a:t>
            </a:r>
            <a:r>
              <a:rPr lang="en-US" sz="2056" dirty="0" err="1">
                <a:solidFill>
                  <a:srgbClr val="010A50"/>
                </a:solidFill>
                <a:latin typeface="AC Soft Icecream"/>
                <a:ea typeface="AC Soft Icecream"/>
                <a:cs typeface="AC Soft Icecream"/>
                <a:sym typeface="AC Soft Icecream"/>
              </a:rPr>
              <a:t>υτό</a:t>
            </a:r>
            <a:r>
              <a:rPr lang="en-US" sz="2056" dirty="0">
                <a:solidFill>
                  <a:srgbClr val="010A50"/>
                </a:solidFill>
                <a:latin typeface="AC Soft Icecream"/>
                <a:ea typeface="AC Soft Icecream"/>
                <a:cs typeface="AC Soft Icecream"/>
                <a:sym typeface="AC Soft Icecream"/>
              </a:rPr>
              <a:t>, </a:t>
            </a:r>
            <a:r>
              <a:rPr lang="en-US" sz="2056" dirty="0" err="1">
                <a:solidFill>
                  <a:srgbClr val="010A50"/>
                </a:solidFill>
                <a:latin typeface="AC Soft Icecream"/>
                <a:ea typeface="AC Soft Icecream"/>
                <a:cs typeface="AC Soft Icecream"/>
                <a:sym typeface="AC Soft Icecream"/>
              </a:rPr>
              <a:t>γι</a:t>
            </a:r>
            <a:r>
              <a:rPr lang="en-US" sz="2056" dirty="0">
                <a:solidFill>
                  <a:srgbClr val="010A50"/>
                </a:solidFill>
                <a:latin typeface="AC Soft Icecream"/>
                <a:ea typeface="AC Soft Icecream"/>
                <a:cs typeface="AC Soft Icecream"/>
                <a:sym typeface="AC Soft Icecream"/>
              </a:rPr>
              <a:t>ατί κανονικά η VRM V3  είναι φτιαγμένη για Arduino και όχι για ESP32 μικροελεγκτές</a:t>
            </a:r>
          </a:p>
          <a:p>
            <a:pPr algn="just">
              <a:lnSpc>
                <a:spcPts val="2879"/>
              </a:lnSpc>
            </a:pPr>
            <a:endParaRPr lang="en-US" sz="2056" dirty="0">
              <a:solidFill>
                <a:srgbClr val="010A50"/>
              </a:solidFill>
              <a:latin typeface="AC Soft Icecream"/>
              <a:ea typeface="AC Soft Icecream"/>
              <a:cs typeface="AC Soft Icecream"/>
              <a:sym typeface="AC Soft Icecream"/>
            </a:endParaRPr>
          </a:p>
          <a:p>
            <a:pPr algn="just">
              <a:lnSpc>
                <a:spcPts val="2879"/>
              </a:lnSpc>
            </a:pPr>
            <a:r>
              <a:rPr lang="en-US" sz="2056" dirty="0">
                <a:solidFill>
                  <a:srgbClr val="010A50"/>
                </a:solidFill>
                <a:latin typeface="AC Soft Icecream"/>
                <a:ea typeface="AC Soft Icecream"/>
                <a:cs typeface="AC Soft Icecream"/>
                <a:sym typeface="AC Soft Icecream"/>
              </a:rPr>
              <a:t>Μπ</a:t>
            </a:r>
            <a:r>
              <a:rPr lang="en-US" sz="2056" dirty="0" err="1">
                <a:solidFill>
                  <a:srgbClr val="010A50"/>
                </a:solidFill>
                <a:latin typeface="AC Soft Icecream"/>
                <a:ea typeface="AC Soft Icecream"/>
                <a:cs typeface="AC Soft Icecream"/>
                <a:sym typeface="AC Soft Icecream"/>
              </a:rPr>
              <a:t>ορείτε</a:t>
            </a:r>
            <a:r>
              <a:rPr lang="en-US" sz="2056" dirty="0">
                <a:solidFill>
                  <a:srgbClr val="010A50"/>
                </a:solidFill>
                <a:latin typeface="AC Soft Icecream"/>
                <a:ea typeface="AC Soft Icecream"/>
                <a:cs typeface="AC Soft Icecream"/>
                <a:sym typeface="AC Soft Icecream"/>
              </a:rPr>
              <a:t> να β</a:t>
            </a:r>
            <a:r>
              <a:rPr lang="en-US" sz="2056" dirty="0" err="1">
                <a:solidFill>
                  <a:srgbClr val="010A50"/>
                </a:solidFill>
                <a:latin typeface="AC Soft Icecream"/>
                <a:ea typeface="AC Soft Icecream"/>
                <a:cs typeface="AC Soft Icecream"/>
                <a:sym typeface="AC Soft Icecream"/>
              </a:rPr>
              <a:t>ρείτε</a:t>
            </a:r>
            <a:r>
              <a:rPr lang="en-US" sz="2056" dirty="0">
                <a:solidFill>
                  <a:srgbClr val="010A50"/>
                </a:solidFill>
                <a:latin typeface="AC Soft Icecream"/>
                <a:ea typeface="AC Soft Icecream"/>
                <a:cs typeface="AC Soft Icecream"/>
                <a:sym typeface="AC Soft Icecream"/>
              </a:rPr>
              <a:t> τα π</a:t>
            </a:r>
            <a:r>
              <a:rPr lang="en-US" sz="2056" dirty="0" err="1">
                <a:solidFill>
                  <a:srgbClr val="010A50"/>
                </a:solidFill>
                <a:latin typeface="AC Soft Icecream"/>
                <a:ea typeface="AC Soft Icecream"/>
                <a:cs typeface="AC Soft Icecream"/>
                <a:sym typeface="AC Soft Icecream"/>
              </a:rPr>
              <a:t>άντ</a:t>
            </a:r>
            <a:r>
              <a:rPr lang="en-US" sz="2056" dirty="0">
                <a:solidFill>
                  <a:srgbClr val="010A50"/>
                </a:solidFill>
                <a:latin typeface="AC Soft Icecream"/>
                <a:ea typeface="AC Soft Icecream"/>
                <a:cs typeface="AC Soft Icecream"/>
                <a:sym typeface="AC Soft Icecream"/>
              </a:rPr>
              <a:t>α για την εργασία μας και εδώ:  </a:t>
            </a:r>
            <a:r>
              <a:rPr lang="en-US" sz="2056" u="sng" dirty="0">
                <a:solidFill>
                  <a:srgbClr val="2A5D5E"/>
                </a:solidFill>
                <a:latin typeface="AC Soft Icecream"/>
                <a:ea typeface="AC Soft Icecream"/>
                <a:cs typeface="AC Soft Icecream"/>
                <a:sym typeface="AC Soft Icecream"/>
                <a:hlinkClick r:id="rId6" tooltip="https://github.com/GeorgePeg/VIRSI"/>
              </a:rPr>
              <a:t>https://github.com/GeorgePeg/VIRSI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3" name="Freeform 3"/>
          <p:cNvSpPr/>
          <p:nvPr/>
        </p:nvSpPr>
        <p:spPr>
          <a:xfrm>
            <a:off x="15108021" y="-649556"/>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4" name="TextBox 4"/>
          <p:cNvSpPr txBox="1"/>
          <p:nvPr/>
        </p:nvSpPr>
        <p:spPr>
          <a:xfrm>
            <a:off x="5410200" y="292694"/>
            <a:ext cx="6324599" cy="679673"/>
          </a:xfrm>
          <a:prstGeom prst="rect">
            <a:avLst/>
          </a:prstGeom>
        </p:spPr>
        <p:txBody>
          <a:bodyPr wrap="square" lIns="0" tIns="0" rIns="0" bIns="0" rtlCol="0" anchor="t">
            <a:spAutoFit/>
          </a:bodyPr>
          <a:lstStyle/>
          <a:p>
            <a:pPr algn="ctr">
              <a:lnSpc>
                <a:spcPts val="5348"/>
              </a:lnSpc>
            </a:pPr>
            <a:r>
              <a:rPr lang="en-US" sz="4800" b="1" dirty="0">
                <a:solidFill>
                  <a:srgbClr val="010A50"/>
                </a:solidFill>
                <a:latin typeface="Noto Sans Bold"/>
                <a:ea typeface="Noto Sans Bold"/>
                <a:cs typeface="Noto Sans Bold"/>
                <a:sym typeface="Noto Sans Bold"/>
              </a:rPr>
              <a:t>OUR  SOURCES</a:t>
            </a:r>
          </a:p>
        </p:txBody>
      </p:sp>
      <p:sp>
        <p:nvSpPr>
          <p:cNvPr id="5" name="TextBox 5"/>
          <p:cNvSpPr txBox="1"/>
          <p:nvPr/>
        </p:nvSpPr>
        <p:spPr>
          <a:xfrm>
            <a:off x="1225970" y="2062899"/>
            <a:ext cx="15836059" cy="6520003"/>
          </a:xfrm>
          <a:prstGeom prst="rect">
            <a:avLst/>
          </a:prstGeom>
        </p:spPr>
        <p:txBody>
          <a:bodyPr lIns="0" tIns="0" rIns="0" bIns="0" rtlCol="0" anchor="t">
            <a:spAutoFit/>
          </a:bodyPr>
          <a:lstStyle/>
          <a:p>
            <a:pPr algn="just">
              <a:lnSpc>
                <a:spcPts val="2879"/>
              </a:lnSpc>
            </a:pPr>
            <a:r>
              <a:rPr lang="en-US" sz="2056" u="sng" dirty="0">
                <a:solidFill>
                  <a:srgbClr val="010A50"/>
                </a:solidFill>
                <a:latin typeface="AC Soft Icecream"/>
                <a:ea typeface="AC Soft Icecream"/>
                <a:cs typeface="AC Soft Icecream"/>
                <a:sym typeface="AC Soft Icecream"/>
                <a:hlinkClick r:id="rId7" tooltip="https://github.com/Muehli-Industries/ElechouseVR3_ESP32/tree/main"/>
              </a:rPr>
              <a:t>https://github.com/Muehli-Industries/ElechouseVR3_ESP32/tree/main </a:t>
            </a:r>
          </a:p>
          <a:p>
            <a:pPr algn="just">
              <a:lnSpc>
                <a:spcPts val="2879"/>
              </a:lnSpc>
            </a:pPr>
            <a:r>
              <a:rPr lang="en-US" sz="2056" u="sng" dirty="0">
                <a:solidFill>
                  <a:srgbClr val="010A50"/>
                </a:solidFill>
                <a:latin typeface="AC Soft Icecream"/>
                <a:ea typeface="AC Soft Icecream"/>
                <a:cs typeface="AC Soft Icecream"/>
                <a:sym typeface="AC Soft Icecream"/>
                <a:hlinkClick r:id="rId8" tooltip="https://electronoobs.com/eng_arduino_tut165.php"/>
              </a:rPr>
              <a:t>https://electronoobs.com/eng_arduino_tut165.php</a:t>
            </a:r>
            <a:r>
              <a:rPr lang="en-US" sz="2056" dirty="0">
                <a:solidFill>
                  <a:srgbClr val="010A50"/>
                </a:solidFill>
                <a:latin typeface="AC Soft Icecream"/>
                <a:ea typeface="AC Soft Icecream"/>
                <a:cs typeface="AC Soft Icecream"/>
                <a:sym typeface="AC Soft Icecream"/>
              </a:rPr>
              <a:t> </a:t>
            </a:r>
          </a:p>
          <a:p>
            <a:pPr algn="just">
              <a:lnSpc>
                <a:spcPts val="2879"/>
              </a:lnSpc>
            </a:pPr>
            <a:r>
              <a:rPr lang="en-US" sz="2056" u="sng" dirty="0">
                <a:solidFill>
                  <a:srgbClr val="010A50"/>
                </a:solidFill>
                <a:latin typeface="AC Soft Icecream"/>
                <a:ea typeface="AC Soft Icecream"/>
                <a:cs typeface="AC Soft Icecream"/>
                <a:sym typeface="AC Soft Icecream"/>
                <a:hlinkClick r:id="rId9" tooltip="https://github.com/elechouse/VoiceRecognitionV3"/>
              </a:rPr>
              <a:t>https://github.com/elechouse/VoiceRecognitionV3</a:t>
            </a:r>
            <a:r>
              <a:rPr lang="en-US" sz="2056" dirty="0">
                <a:solidFill>
                  <a:srgbClr val="010A50"/>
                </a:solidFill>
                <a:latin typeface="AC Soft Icecream"/>
                <a:ea typeface="AC Soft Icecream"/>
                <a:cs typeface="AC Soft Icecream"/>
                <a:sym typeface="AC Soft Icecream"/>
              </a:rPr>
              <a:t> </a:t>
            </a:r>
          </a:p>
          <a:p>
            <a:pPr algn="just">
              <a:lnSpc>
                <a:spcPts val="2879"/>
              </a:lnSpc>
            </a:pPr>
            <a:r>
              <a:rPr lang="en-US" sz="2056" u="sng" dirty="0">
                <a:solidFill>
                  <a:srgbClr val="010A50"/>
                </a:solidFill>
                <a:latin typeface="AC Soft Icecream"/>
                <a:ea typeface="AC Soft Icecream"/>
                <a:cs typeface="AC Soft Icecream"/>
                <a:sym typeface="AC Soft Icecream"/>
                <a:hlinkClick r:id="rId10" tooltip="https://blog.frankvh.com/2022/02/21/esp32-support-for-elechouse-voice-recognition-module-v3/"/>
              </a:rPr>
              <a:t>https://blog.frankvh.com/2022/02/21/esp32-support-for-elechouse-voice-recognition-module-v3/</a:t>
            </a:r>
            <a:r>
              <a:rPr lang="en-US" sz="2056" dirty="0">
                <a:solidFill>
                  <a:srgbClr val="010A50"/>
                </a:solidFill>
                <a:latin typeface="AC Soft Icecream"/>
                <a:ea typeface="AC Soft Icecream"/>
                <a:cs typeface="AC Soft Icecream"/>
                <a:sym typeface="AC Soft Icecream"/>
              </a:rPr>
              <a:t> </a:t>
            </a:r>
          </a:p>
          <a:p>
            <a:pPr algn="just">
              <a:lnSpc>
                <a:spcPts val="2879"/>
              </a:lnSpc>
            </a:pPr>
            <a:r>
              <a:rPr lang="en-US" sz="2056" u="sng" dirty="0">
                <a:solidFill>
                  <a:srgbClr val="010A50"/>
                </a:solidFill>
                <a:latin typeface="AC Soft Icecream"/>
                <a:ea typeface="AC Soft Icecream"/>
                <a:cs typeface="AC Soft Icecream"/>
                <a:sym typeface="AC Soft Icecream"/>
                <a:hlinkClick r:id="rId11" tooltip="https://www.espressif.com/en/solutions/low-power-solutions/esp-now"/>
              </a:rPr>
              <a:t>https://www.espressif.com/en/solutions/low-power-solutions/esp-now</a:t>
            </a:r>
            <a:r>
              <a:rPr lang="en-US" sz="2056" dirty="0">
                <a:solidFill>
                  <a:srgbClr val="010A50"/>
                </a:solidFill>
                <a:latin typeface="AC Soft Icecream"/>
                <a:ea typeface="AC Soft Icecream"/>
                <a:cs typeface="AC Soft Icecream"/>
                <a:sym typeface="AC Soft Icecream"/>
              </a:rPr>
              <a:t> </a:t>
            </a:r>
            <a:r>
              <a:rPr lang="en-US" sz="2056" u="sng" dirty="0">
                <a:solidFill>
                  <a:srgbClr val="010A50"/>
                </a:solidFill>
                <a:latin typeface="AC Soft Icecream"/>
                <a:ea typeface="AC Soft Icecream"/>
                <a:cs typeface="AC Soft Icecream"/>
                <a:sym typeface="AC Soft Icecream"/>
                <a:hlinkClick r:id="rId12" tooltip="https://www.cloudflare.com/learning/ddos/glossary/open-systems-interconnection-model-osi/"/>
              </a:rPr>
              <a:t>https://www.cloudflare.com/learning/ddos/glossary/open-systems-interconnection-model-osi/</a:t>
            </a:r>
            <a:r>
              <a:rPr lang="en-US" sz="2056" dirty="0">
                <a:solidFill>
                  <a:srgbClr val="010A50"/>
                </a:solidFill>
                <a:latin typeface="AC Soft Icecream"/>
                <a:ea typeface="AC Soft Icecream"/>
                <a:cs typeface="AC Soft Icecream"/>
                <a:sym typeface="AC Soft Icecream"/>
              </a:rPr>
              <a:t> </a:t>
            </a:r>
            <a:r>
              <a:rPr lang="en-US" sz="2056" u="sng" dirty="0">
                <a:solidFill>
                  <a:srgbClr val="010A50"/>
                </a:solidFill>
                <a:latin typeface="AC Soft Icecream"/>
                <a:ea typeface="AC Soft Icecream"/>
                <a:cs typeface="AC Soft Icecream"/>
                <a:sym typeface="AC Soft Icecream"/>
                <a:hlinkClick r:id="rId13" tooltip="https://docs.espressif.com/projects/esp-idf/en/latest/esp32c3/api-reference/network/esp_now.html"/>
              </a:rPr>
              <a:t>https://docs.espressif.com/projects/esp-idf/en/latest/esp32c3/api-reference/network/esp_now.html</a:t>
            </a:r>
            <a:r>
              <a:rPr lang="en-US" sz="2056" dirty="0">
                <a:solidFill>
                  <a:srgbClr val="010A50"/>
                </a:solidFill>
                <a:latin typeface="AC Soft Icecream"/>
                <a:ea typeface="AC Soft Icecream"/>
                <a:cs typeface="AC Soft Icecream"/>
                <a:sym typeface="AC Soft Icecream"/>
              </a:rPr>
              <a:t> </a:t>
            </a:r>
          </a:p>
          <a:p>
            <a:pPr algn="just">
              <a:lnSpc>
                <a:spcPts val="2879"/>
              </a:lnSpc>
            </a:pPr>
            <a:r>
              <a:rPr lang="en-US" sz="2056" u="sng" dirty="0">
                <a:solidFill>
                  <a:srgbClr val="010A50"/>
                </a:solidFill>
                <a:latin typeface="AC Soft Icecream"/>
                <a:ea typeface="AC Soft Icecream"/>
                <a:cs typeface="AC Soft Icecream"/>
                <a:sym typeface="AC Soft Icecream"/>
                <a:hlinkClick r:id="rId14" tooltip="https://www.youtube.com/watch?si=fhnLfbmc_sz48225&amp;v=HpChhPt1CCQ&amp;feature=youtu.be"/>
              </a:rPr>
              <a:t>https://www.youtube.com/watch?si=fhnLfbmc_sz48225&amp;v=HpChhPt1CCQ&amp;feature=youtu.be</a:t>
            </a:r>
          </a:p>
          <a:p>
            <a:pPr algn="just">
              <a:lnSpc>
                <a:spcPts val="2879"/>
              </a:lnSpc>
            </a:pPr>
            <a:r>
              <a:rPr lang="en-US" sz="2056" u="sng" dirty="0">
                <a:solidFill>
                  <a:srgbClr val="010A50"/>
                </a:solidFill>
                <a:latin typeface="AC Soft Icecream"/>
                <a:ea typeface="AC Soft Icecream"/>
                <a:cs typeface="AC Soft Icecream"/>
                <a:sym typeface="AC Soft Icecream"/>
                <a:hlinkClick r:id="rId15" tooltip="https://www.elechouse.com/elechouse/images/product/VR3/VR3_manual.pdf"/>
              </a:rPr>
              <a:t>https://www.elechouse.com/elechouse/images/product/VR3/VR3_manual.pdf</a:t>
            </a:r>
          </a:p>
          <a:p>
            <a:pPr algn="just">
              <a:lnSpc>
                <a:spcPts val="2879"/>
              </a:lnSpc>
            </a:pPr>
            <a:r>
              <a:rPr lang="en-US" sz="2056" u="sng" dirty="0">
                <a:solidFill>
                  <a:srgbClr val="010A50"/>
                </a:solidFill>
                <a:latin typeface="AC Soft Icecream"/>
                <a:ea typeface="AC Soft Icecream"/>
                <a:cs typeface="AC Soft Icecream"/>
                <a:sym typeface="AC Soft Icecream"/>
                <a:hlinkClick r:id="rId16" tooltip="https://en.wikipedia.org/wiki/I%C2%B2S"/>
              </a:rPr>
              <a:t>https://en.wikipedia.org/wiki/I%C2%B2S</a:t>
            </a:r>
          </a:p>
          <a:p>
            <a:pPr algn="just">
              <a:lnSpc>
                <a:spcPts val="2879"/>
              </a:lnSpc>
            </a:pPr>
            <a:r>
              <a:rPr lang="en-US" sz="2056" u="sng" dirty="0">
                <a:solidFill>
                  <a:srgbClr val="010A50"/>
                </a:solidFill>
                <a:latin typeface="AC Soft Icecream"/>
                <a:ea typeface="AC Soft Icecream"/>
                <a:cs typeface="AC Soft Icecream"/>
                <a:sym typeface="AC Soft Icecream"/>
                <a:hlinkClick r:id="rId17" tooltip="https://hackaday.io/project/162059-street-sense/log/160705-new-i2s-microphone"/>
              </a:rPr>
              <a:t>https://hackaday.io/project/162059-street-sense/log/160705-new-i2s-microphone</a:t>
            </a:r>
            <a:r>
              <a:rPr lang="en-US" sz="2056" dirty="0">
                <a:solidFill>
                  <a:srgbClr val="010A50"/>
                </a:solidFill>
                <a:latin typeface="AC Soft Icecream"/>
                <a:ea typeface="AC Soft Icecream"/>
                <a:cs typeface="AC Soft Icecream"/>
                <a:sym typeface="AC Soft Icecream"/>
              </a:rPr>
              <a:t> </a:t>
            </a:r>
          </a:p>
          <a:p>
            <a:pPr algn="just">
              <a:lnSpc>
                <a:spcPts val="2879"/>
              </a:lnSpc>
            </a:pPr>
            <a:r>
              <a:rPr lang="en-US" sz="2056" u="sng" dirty="0">
                <a:solidFill>
                  <a:srgbClr val="010A50"/>
                </a:solidFill>
                <a:latin typeface="AC Soft Icecream"/>
                <a:ea typeface="AC Soft Icecream"/>
                <a:cs typeface="AC Soft Icecream"/>
                <a:sym typeface="AC Soft Icecream"/>
                <a:hlinkClick r:id="rId18" tooltip="https://docs.espressif.com/projects/esp-idf/en/latest/esp32/api-reference/peripherals/i2s.html"/>
              </a:rPr>
              <a:t>https://docs.espressif.com/projects/esp-idf/en/latest/esp32/api-reference/peripherals/i2s.html</a:t>
            </a:r>
            <a:r>
              <a:rPr lang="en-US" sz="2056" dirty="0">
                <a:solidFill>
                  <a:srgbClr val="010A50"/>
                </a:solidFill>
                <a:latin typeface="AC Soft Icecream"/>
                <a:ea typeface="AC Soft Icecream"/>
                <a:cs typeface="AC Soft Icecream"/>
                <a:sym typeface="AC Soft Icecream"/>
              </a:rPr>
              <a:t> </a:t>
            </a:r>
            <a:r>
              <a:rPr lang="en-US" sz="2056" u="sng" dirty="0">
                <a:solidFill>
                  <a:srgbClr val="010A50"/>
                </a:solidFill>
                <a:latin typeface="AC Soft Icecream"/>
                <a:ea typeface="AC Soft Icecream"/>
                <a:cs typeface="AC Soft Icecream"/>
                <a:sym typeface="AC Soft Icecream"/>
                <a:hlinkClick r:id="rId19" tooltip="https://github.com/ikostoski/esp32-i2s-slm"/>
              </a:rPr>
              <a:t>https://github.com/ikostoski/esp32-i2s-slm</a:t>
            </a:r>
            <a:r>
              <a:rPr lang="en-US" sz="2056" dirty="0">
                <a:solidFill>
                  <a:srgbClr val="010A50"/>
                </a:solidFill>
                <a:latin typeface="AC Soft Icecream"/>
                <a:ea typeface="AC Soft Icecream"/>
                <a:cs typeface="AC Soft Icecream"/>
                <a:sym typeface="AC Soft Icecream"/>
              </a:rPr>
              <a:t> </a:t>
            </a:r>
          </a:p>
          <a:p>
            <a:pPr algn="just">
              <a:lnSpc>
                <a:spcPts val="2879"/>
              </a:lnSpc>
            </a:pPr>
            <a:r>
              <a:rPr lang="en-US" sz="2056" u="sng" dirty="0">
                <a:solidFill>
                  <a:srgbClr val="010A50"/>
                </a:solidFill>
                <a:latin typeface="AC Soft Icecream"/>
                <a:ea typeface="AC Soft Icecream"/>
                <a:cs typeface="AC Soft Icecream"/>
                <a:sym typeface="AC Soft Icecream"/>
                <a:hlinkClick r:id="rId20" tooltip="https://invensense.tdk.com/wp-content/uploads/2015/02/INMP441.pdf"/>
              </a:rPr>
              <a:t>https://invensense.tdk.com/wp-content/uploads/2015/02/INMP441.pdf</a:t>
            </a:r>
            <a:r>
              <a:rPr lang="en-US" sz="2056" dirty="0">
                <a:solidFill>
                  <a:srgbClr val="010A50"/>
                </a:solidFill>
                <a:latin typeface="AC Soft Icecream"/>
                <a:ea typeface="AC Soft Icecream"/>
                <a:cs typeface="AC Soft Icecream"/>
                <a:sym typeface="AC Soft Icecream"/>
              </a:rPr>
              <a:t> </a:t>
            </a:r>
          </a:p>
          <a:p>
            <a:pPr algn="just">
              <a:lnSpc>
                <a:spcPts val="2879"/>
              </a:lnSpc>
            </a:pPr>
            <a:r>
              <a:rPr lang="en-US" sz="2056" dirty="0" err="1">
                <a:solidFill>
                  <a:srgbClr val="010A50"/>
                </a:solidFill>
                <a:latin typeface="AC Soft Icecream"/>
                <a:ea typeface="AC Soft Icecream"/>
                <a:cs typeface="AC Soft Icecream"/>
                <a:sym typeface="AC Soft Icecream"/>
              </a:rPr>
              <a:t>Γι</a:t>
            </a:r>
            <a:r>
              <a:rPr lang="en-US" sz="2056" dirty="0">
                <a:solidFill>
                  <a:srgbClr val="010A50"/>
                </a:solidFill>
                <a:latin typeface="AC Soft Icecream"/>
                <a:ea typeface="AC Soft Icecream"/>
                <a:cs typeface="AC Soft Icecream"/>
                <a:sym typeface="AC Soft Icecream"/>
              </a:rPr>
              <a:t>α την μέθοδο της συμπίεσης χρησιμοποιήσαμε την διάλεξη «Ψηφιακή Επεξεργασία Ηχογραφήσεων» από το e-class του μαθήματος «Επεξεργασίας Ήχου και Μουσικής».</a:t>
            </a:r>
          </a:p>
          <a:p>
            <a:pPr algn="just">
              <a:lnSpc>
                <a:spcPts val="2879"/>
              </a:lnSpc>
            </a:pPr>
            <a:endParaRPr lang="en-US" sz="2056" dirty="0">
              <a:solidFill>
                <a:srgbClr val="010A50"/>
              </a:solidFill>
              <a:latin typeface="AC Soft Icecream"/>
              <a:ea typeface="AC Soft Icecream"/>
              <a:cs typeface="AC Soft Icecream"/>
              <a:sym typeface="AC Soft Icecream"/>
            </a:endParaRPr>
          </a:p>
          <a:p>
            <a:pPr algn="just">
              <a:lnSpc>
                <a:spcPts val="2879"/>
              </a:lnSpc>
            </a:pPr>
            <a:endParaRPr lang="en-US" sz="2056" dirty="0">
              <a:solidFill>
                <a:srgbClr val="010A50"/>
              </a:solidFill>
              <a:latin typeface="AC Soft Icecream"/>
              <a:ea typeface="AC Soft Icecream"/>
              <a:cs typeface="AC Soft Icecream"/>
              <a:sym typeface="AC Soft Icecream"/>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33" b="-9333"/>
            </a:stretch>
          </a:blipFill>
        </p:spPr>
      </p:sp>
      <p:sp>
        <p:nvSpPr>
          <p:cNvPr id="3" name="Freeform 3"/>
          <p:cNvSpPr/>
          <p:nvPr/>
        </p:nvSpPr>
        <p:spPr>
          <a:xfrm>
            <a:off x="15154235" y="-723790"/>
            <a:ext cx="3513477" cy="1884501"/>
          </a:xfrm>
          <a:custGeom>
            <a:avLst/>
            <a:gdLst/>
            <a:ahLst/>
            <a:cxnLst/>
            <a:rect l="l" t="t" r="r" b="b"/>
            <a:pathLst>
              <a:path w="3513477" h="1884501">
                <a:moveTo>
                  <a:pt x="0" y="0"/>
                </a:moveTo>
                <a:lnTo>
                  <a:pt x="3513477" y="0"/>
                </a:lnTo>
                <a:lnTo>
                  <a:pt x="3513477" y="1884501"/>
                </a:lnTo>
                <a:lnTo>
                  <a:pt x="0" y="18845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227249" y="8933667"/>
            <a:ext cx="3513477" cy="1884501"/>
          </a:xfrm>
          <a:custGeom>
            <a:avLst/>
            <a:gdLst/>
            <a:ahLst/>
            <a:cxnLst/>
            <a:rect l="l" t="t" r="r" b="b"/>
            <a:pathLst>
              <a:path w="3513477" h="1884501">
                <a:moveTo>
                  <a:pt x="0" y="0"/>
                </a:moveTo>
                <a:lnTo>
                  <a:pt x="3513477" y="0"/>
                </a:lnTo>
                <a:lnTo>
                  <a:pt x="3513477" y="1884502"/>
                </a:lnTo>
                <a:lnTo>
                  <a:pt x="0" y="188450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2837906" y="4370306"/>
            <a:ext cx="12612187" cy="1458542"/>
          </a:xfrm>
          <a:prstGeom prst="rect">
            <a:avLst/>
          </a:prstGeom>
        </p:spPr>
        <p:txBody>
          <a:bodyPr lIns="0" tIns="0" rIns="0" bIns="0" rtlCol="0" anchor="t">
            <a:spAutoFit/>
          </a:bodyPr>
          <a:lstStyle/>
          <a:p>
            <a:pPr algn="ctr">
              <a:lnSpc>
                <a:spcPts val="11242"/>
              </a:lnSpc>
            </a:pPr>
            <a:r>
              <a:rPr lang="en-US" sz="10314">
                <a:solidFill>
                  <a:srgbClr val="FFFFFF"/>
                </a:solidFill>
                <a:latin typeface="HK Modular"/>
                <a:ea typeface="HK Modular"/>
                <a:cs typeface="HK Modular"/>
                <a:sym typeface="HK Modular"/>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Θέμα του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2583</Words>
  <Application>Microsoft Office PowerPoint</Application>
  <PresentationFormat>Προσαρμογή</PresentationFormat>
  <Paragraphs>92</Paragraphs>
  <Slides>18</Slides>
  <Notes>2</Notes>
  <HiddenSlides>0</HiddenSlides>
  <MMClips>0</MMClips>
  <ScaleCrop>false</ScaleCrop>
  <HeadingPairs>
    <vt:vector size="6" baseType="variant">
      <vt:variant>
        <vt:lpstr>Γραμματοσειρές που χρησιμοποιούνται</vt:lpstr>
      </vt:variant>
      <vt:variant>
        <vt:i4>9</vt:i4>
      </vt:variant>
      <vt:variant>
        <vt:lpstr>Θέμα</vt:lpstr>
      </vt:variant>
      <vt:variant>
        <vt:i4>1</vt:i4>
      </vt:variant>
      <vt:variant>
        <vt:lpstr>Τίτλοι διαφανειών</vt:lpstr>
      </vt:variant>
      <vt:variant>
        <vt:i4>18</vt:i4>
      </vt:variant>
    </vt:vector>
  </HeadingPairs>
  <TitlesOfParts>
    <vt:vector size="28" baseType="lpstr">
      <vt:lpstr>Ubuntu</vt:lpstr>
      <vt:lpstr>Noto Sans Bold</vt:lpstr>
      <vt:lpstr>Montserrat Bold</vt:lpstr>
      <vt:lpstr>DejaVu Serif Bold</vt:lpstr>
      <vt:lpstr>Arial</vt:lpstr>
      <vt:lpstr>Calibri</vt:lpstr>
      <vt:lpstr>AC Soft Icecream</vt:lpstr>
      <vt:lpstr>Aptos</vt:lpstr>
      <vt:lpstr>HK Modular</vt:lpstr>
      <vt:lpstr>Office Theme</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VIRSI</dc:title>
  <dc:creator>Theodoros</dc:creator>
  <cp:lastModifiedBy>Theodoros</cp:lastModifiedBy>
  <cp:revision>2</cp:revision>
  <dcterms:created xsi:type="dcterms:W3CDTF">2006-08-16T00:00:00Z</dcterms:created>
  <dcterms:modified xsi:type="dcterms:W3CDTF">2025-09-18T16:19:15Z</dcterms:modified>
  <dc:identifier>DAGyx5_Pqi4</dc:identifier>
</cp:coreProperties>
</file>